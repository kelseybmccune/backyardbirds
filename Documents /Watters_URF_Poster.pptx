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6" r:id="rId2"/>
  </p:sldIdLst>
  <p:sldSz cx="36576000" cy="22860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78113D-7A43-4333-92DA-857B742299B3}" v="1" dt="2026-04-08T03:27:19.1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30" d="100"/>
          <a:sy n="30" d="100"/>
        </p:scale>
        <p:origin x="398" y="-8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46FDA5-0B37-48BB-824C-460ED7BFC986}" type="datetimeFigureOut">
              <a:rPr lang="en-US" smtClean="0"/>
              <a:t>7/9/2026</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F9504F-022B-4F76-BC4B-A78C184C5FB3}" type="slidenum">
              <a:rPr lang="en-US" smtClean="0"/>
              <a:t>‹#›</a:t>
            </a:fld>
            <a:endParaRPr lang="en-US"/>
          </a:p>
        </p:txBody>
      </p:sp>
    </p:spTree>
    <p:extLst>
      <p:ext uri="{BB962C8B-B14F-4D97-AF65-F5344CB8AC3E}">
        <p14:creationId xmlns:p14="http://schemas.microsoft.com/office/powerpoint/2010/main" val="868331640"/>
      </p:ext>
    </p:extLst>
  </p:cSld>
  <p:clrMap bg1="lt1" tx1="dk1" bg2="lt2" tx2="dk2" accent1="accent1" accent2="accent2" accent3="accent3" accent4="accent4" accent5="accent5" accent6="accent6" hlink="hlink" folHlink="folHlink"/>
  <p:notesStyle>
    <a:lvl1pPr marL="0" algn="l" defTabSz="3258570" rtl="0" eaLnBrk="1" latinLnBrk="0" hangingPunct="1">
      <a:defRPr sz="4276" kern="1200">
        <a:solidFill>
          <a:schemeClr val="tx1"/>
        </a:solidFill>
        <a:latin typeface="+mn-lt"/>
        <a:ea typeface="+mn-ea"/>
        <a:cs typeface="+mn-cs"/>
      </a:defRPr>
    </a:lvl1pPr>
    <a:lvl2pPr marL="1629285" algn="l" defTabSz="3258570" rtl="0" eaLnBrk="1" latinLnBrk="0" hangingPunct="1">
      <a:defRPr sz="4276" kern="1200">
        <a:solidFill>
          <a:schemeClr val="tx1"/>
        </a:solidFill>
        <a:latin typeface="+mn-lt"/>
        <a:ea typeface="+mn-ea"/>
        <a:cs typeface="+mn-cs"/>
      </a:defRPr>
    </a:lvl2pPr>
    <a:lvl3pPr marL="3258570" algn="l" defTabSz="3258570" rtl="0" eaLnBrk="1" latinLnBrk="0" hangingPunct="1">
      <a:defRPr sz="4276" kern="1200">
        <a:solidFill>
          <a:schemeClr val="tx1"/>
        </a:solidFill>
        <a:latin typeface="+mn-lt"/>
        <a:ea typeface="+mn-ea"/>
        <a:cs typeface="+mn-cs"/>
      </a:defRPr>
    </a:lvl3pPr>
    <a:lvl4pPr marL="4887856" algn="l" defTabSz="3258570" rtl="0" eaLnBrk="1" latinLnBrk="0" hangingPunct="1">
      <a:defRPr sz="4276" kern="1200">
        <a:solidFill>
          <a:schemeClr val="tx1"/>
        </a:solidFill>
        <a:latin typeface="+mn-lt"/>
        <a:ea typeface="+mn-ea"/>
        <a:cs typeface="+mn-cs"/>
      </a:defRPr>
    </a:lvl4pPr>
    <a:lvl5pPr marL="6517141" algn="l" defTabSz="3258570" rtl="0" eaLnBrk="1" latinLnBrk="0" hangingPunct="1">
      <a:defRPr sz="4276" kern="1200">
        <a:solidFill>
          <a:schemeClr val="tx1"/>
        </a:solidFill>
        <a:latin typeface="+mn-lt"/>
        <a:ea typeface="+mn-ea"/>
        <a:cs typeface="+mn-cs"/>
      </a:defRPr>
    </a:lvl5pPr>
    <a:lvl6pPr marL="8146426" algn="l" defTabSz="3258570" rtl="0" eaLnBrk="1" latinLnBrk="0" hangingPunct="1">
      <a:defRPr sz="4276" kern="1200">
        <a:solidFill>
          <a:schemeClr val="tx1"/>
        </a:solidFill>
        <a:latin typeface="+mn-lt"/>
        <a:ea typeface="+mn-ea"/>
        <a:cs typeface="+mn-cs"/>
      </a:defRPr>
    </a:lvl6pPr>
    <a:lvl7pPr marL="9775711" algn="l" defTabSz="3258570" rtl="0" eaLnBrk="1" latinLnBrk="0" hangingPunct="1">
      <a:defRPr sz="4276" kern="1200">
        <a:solidFill>
          <a:schemeClr val="tx1"/>
        </a:solidFill>
        <a:latin typeface="+mn-lt"/>
        <a:ea typeface="+mn-ea"/>
        <a:cs typeface="+mn-cs"/>
      </a:defRPr>
    </a:lvl7pPr>
    <a:lvl8pPr marL="11404997" algn="l" defTabSz="3258570" rtl="0" eaLnBrk="1" latinLnBrk="0" hangingPunct="1">
      <a:defRPr sz="4276" kern="1200">
        <a:solidFill>
          <a:schemeClr val="tx1"/>
        </a:solidFill>
        <a:latin typeface="+mn-lt"/>
        <a:ea typeface="+mn-ea"/>
        <a:cs typeface="+mn-cs"/>
      </a:defRPr>
    </a:lvl8pPr>
    <a:lvl9pPr marL="13034282" algn="l" defTabSz="3258570" rtl="0" eaLnBrk="1" latinLnBrk="0" hangingPunct="1">
      <a:defRPr sz="42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0" y="3741210"/>
            <a:ext cx="27432000" cy="7958667"/>
          </a:xfrm>
        </p:spPr>
        <p:txBody>
          <a:bodyPr anchor="b"/>
          <a:lstStyle>
            <a:lvl1pPr algn="ctr">
              <a:defRPr sz="18000"/>
            </a:lvl1pPr>
          </a:lstStyle>
          <a:p>
            <a:r>
              <a:rPr lang="en-US"/>
              <a:t>Click to edit Master title style</a:t>
            </a:r>
            <a:endParaRPr lang="en-US" dirty="0"/>
          </a:p>
        </p:txBody>
      </p:sp>
      <p:sp>
        <p:nvSpPr>
          <p:cNvPr id="3" name="Subtitle 2"/>
          <p:cNvSpPr>
            <a:spLocks noGrp="1"/>
          </p:cNvSpPr>
          <p:nvPr>
            <p:ph type="subTitle" idx="1"/>
          </p:nvPr>
        </p:nvSpPr>
        <p:spPr>
          <a:xfrm>
            <a:off x="4572000" y="12006793"/>
            <a:ext cx="27432000" cy="5519207"/>
          </a:xfrm>
        </p:spPr>
        <p:txBody>
          <a:bodyPr/>
          <a:lstStyle>
            <a:lvl1pPr marL="0" indent="0" algn="ctr">
              <a:buNone/>
              <a:defRPr sz="7200"/>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EAD5F1-5FA6-46ED-B88A-9079F30ACCA3}"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197347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EAD5F1-5FA6-46ED-B88A-9079F30ACCA3}"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2014893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0" y="5699129"/>
            <a:ext cx="31546800" cy="9509123"/>
          </a:xfrm>
        </p:spPr>
        <p:txBody>
          <a:bodyPr anchor="b"/>
          <a:lstStyle>
            <a:lvl1pPr>
              <a:defRPr sz="18000"/>
            </a:lvl1pPr>
          </a:lstStyle>
          <a:p>
            <a:r>
              <a:rPr lang="en-US"/>
              <a:t>Click to edit Master title style</a:t>
            </a:r>
            <a:endParaRPr lang="en-US" dirty="0"/>
          </a:p>
        </p:txBody>
      </p:sp>
      <p:sp>
        <p:nvSpPr>
          <p:cNvPr id="3" name="Text Placeholder 2"/>
          <p:cNvSpPr>
            <a:spLocks noGrp="1"/>
          </p:cNvSpPr>
          <p:nvPr>
            <p:ph type="body" idx="1"/>
          </p:nvPr>
        </p:nvSpPr>
        <p:spPr>
          <a:xfrm>
            <a:off x="2495550" y="15298212"/>
            <a:ext cx="31546800" cy="5000623"/>
          </a:xfrm>
        </p:spPr>
        <p:txBody>
          <a:bodyPr/>
          <a:lstStyle>
            <a:lvl1pPr marL="0" indent="0">
              <a:buNone/>
              <a:defRPr sz="7200">
                <a:solidFill>
                  <a:schemeClr val="tx1">
                    <a:tint val="82000"/>
                  </a:schemeClr>
                </a:solidFill>
              </a:defRPr>
            </a:lvl1pPr>
            <a:lvl2pPr marL="1371600" indent="0">
              <a:buNone/>
              <a:defRPr sz="6000">
                <a:solidFill>
                  <a:schemeClr val="tx1">
                    <a:tint val="82000"/>
                  </a:schemeClr>
                </a:solidFill>
              </a:defRPr>
            </a:lvl2pPr>
            <a:lvl3pPr marL="2743200" indent="0">
              <a:buNone/>
              <a:defRPr sz="5400">
                <a:solidFill>
                  <a:schemeClr val="tx1">
                    <a:tint val="82000"/>
                  </a:schemeClr>
                </a:solidFill>
              </a:defRPr>
            </a:lvl3pPr>
            <a:lvl4pPr marL="4114800" indent="0">
              <a:buNone/>
              <a:defRPr sz="4800">
                <a:solidFill>
                  <a:schemeClr val="tx1">
                    <a:tint val="82000"/>
                  </a:schemeClr>
                </a:solidFill>
              </a:defRPr>
            </a:lvl4pPr>
            <a:lvl5pPr marL="5486400" indent="0">
              <a:buNone/>
              <a:defRPr sz="4800">
                <a:solidFill>
                  <a:schemeClr val="tx1">
                    <a:tint val="82000"/>
                  </a:schemeClr>
                </a:solidFill>
              </a:defRPr>
            </a:lvl5pPr>
            <a:lvl6pPr marL="6858000" indent="0">
              <a:buNone/>
              <a:defRPr sz="4800">
                <a:solidFill>
                  <a:schemeClr val="tx1">
                    <a:tint val="82000"/>
                  </a:schemeClr>
                </a:solidFill>
              </a:defRPr>
            </a:lvl6pPr>
            <a:lvl7pPr marL="8229600" indent="0">
              <a:buNone/>
              <a:defRPr sz="4800">
                <a:solidFill>
                  <a:schemeClr val="tx1">
                    <a:tint val="82000"/>
                  </a:schemeClr>
                </a:solidFill>
              </a:defRPr>
            </a:lvl7pPr>
            <a:lvl8pPr marL="9601200" indent="0">
              <a:buNone/>
              <a:defRPr sz="4800">
                <a:solidFill>
                  <a:schemeClr val="tx1">
                    <a:tint val="82000"/>
                  </a:schemeClr>
                </a:solidFill>
              </a:defRPr>
            </a:lvl8pPr>
            <a:lvl9pPr marL="10972800" indent="0">
              <a:buNone/>
              <a:defRPr sz="4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EAD5F1-5FA6-46ED-B88A-9079F30ACCA3}"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3415587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6085417"/>
            <a:ext cx="15544800" cy="14504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6085417"/>
            <a:ext cx="15544800" cy="14504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EAD5F1-5FA6-46ED-B88A-9079F30ACCA3}"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2554502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217085"/>
            <a:ext cx="31546800" cy="441854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19366" y="5603877"/>
            <a:ext cx="15473361" cy="2746373"/>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4" name="Content Placeholder 3"/>
          <p:cNvSpPr>
            <a:spLocks noGrp="1"/>
          </p:cNvSpPr>
          <p:nvPr>
            <p:ph sz="half" idx="2"/>
          </p:nvPr>
        </p:nvSpPr>
        <p:spPr>
          <a:xfrm>
            <a:off x="2519366" y="8350250"/>
            <a:ext cx="15473361" cy="1228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0" y="5603877"/>
            <a:ext cx="15549564" cy="2746373"/>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6" name="Content Placeholder 5"/>
          <p:cNvSpPr>
            <a:spLocks noGrp="1"/>
          </p:cNvSpPr>
          <p:nvPr>
            <p:ph sz="quarter" idx="4"/>
          </p:nvPr>
        </p:nvSpPr>
        <p:spPr>
          <a:xfrm>
            <a:off x="18516600" y="8350250"/>
            <a:ext cx="15549564" cy="1228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EAD5F1-5FA6-46ED-B88A-9079F30ACCA3}"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4292575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EAD5F1-5FA6-46ED-B88A-9079F30ACCA3}"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4110138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EAD5F1-5FA6-46ED-B88A-9079F30ACCA3}"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893875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6" y="1524000"/>
            <a:ext cx="11796711" cy="5334000"/>
          </a:xfrm>
        </p:spPr>
        <p:txBody>
          <a:bodyPr anchor="b"/>
          <a:lstStyle>
            <a:lvl1pPr>
              <a:defRPr sz="9600"/>
            </a:lvl1pPr>
          </a:lstStyle>
          <a:p>
            <a:r>
              <a:rPr lang="en-US"/>
              <a:t>Click to edit Master title style</a:t>
            </a:r>
            <a:endParaRPr lang="en-US" dirty="0"/>
          </a:p>
        </p:txBody>
      </p:sp>
      <p:sp>
        <p:nvSpPr>
          <p:cNvPr id="3" name="Content Placeholder 2"/>
          <p:cNvSpPr>
            <a:spLocks noGrp="1"/>
          </p:cNvSpPr>
          <p:nvPr>
            <p:ph idx="1"/>
          </p:nvPr>
        </p:nvSpPr>
        <p:spPr>
          <a:xfrm>
            <a:off x="15549564" y="3291418"/>
            <a:ext cx="18516600" cy="16245417"/>
          </a:xfrm>
        </p:spPr>
        <p:txBody>
          <a:bodyPr/>
          <a:lstStyle>
            <a:lvl1pPr>
              <a:defRPr sz="9600"/>
            </a:lvl1pPr>
            <a:lvl2pPr>
              <a:defRPr sz="8400"/>
            </a:lvl2pPr>
            <a:lvl3pPr>
              <a:defRPr sz="7200"/>
            </a:lvl3pPr>
            <a:lvl4pPr>
              <a:defRPr sz="6000"/>
            </a:lvl4pPr>
            <a:lvl5pPr>
              <a:defRPr sz="6000"/>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6" y="6858000"/>
            <a:ext cx="11796711" cy="1270529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22EAD5F1-5FA6-46ED-B88A-9079F30ACCA3}"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2009136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6" y="1524000"/>
            <a:ext cx="11796711" cy="5334000"/>
          </a:xfrm>
        </p:spPr>
        <p:txBody>
          <a:bodyPr anchor="b"/>
          <a:lstStyle>
            <a:lvl1pPr>
              <a:defRPr sz="9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3291418"/>
            <a:ext cx="18516600" cy="16245417"/>
          </a:xfrm>
        </p:spPr>
        <p:txBody>
          <a:bodyPr anchor="t"/>
          <a:lstStyle>
            <a:lvl1pPr marL="0" indent="0">
              <a:buNone/>
              <a:defRPr sz="9600"/>
            </a:lvl1pPr>
            <a:lvl2pPr marL="1371600" indent="0">
              <a:buNone/>
              <a:defRPr sz="8400"/>
            </a:lvl2pPr>
            <a:lvl3pPr marL="2743200" indent="0">
              <a:buNone/>
              <a:defRPr sz="7200"/>
            </a:lvl3pPr>
            <a:lvl4pPr marL="4114800" indent="0">
              <a:buNone/>
              <a:defRPr sz="6000"/>
            </a:lvl4pPr>
            <a:lvl5pPr marL="5486400" indent="0">
              <a:buNone/>
              <a:defRPr sz="6000"/>
            </a:lvl5pPr>
            <a:lvl6pPr marL="6858000" indent="0">
              <a:buNone/>
              <a:defRPr sz="6000"/>
            </a:lvl6pPr>
            <a:lvl7pPr marL="8229600" indent="0">
              <a:buNone/>
              <a:defRPr sz="6000"/>
            </a:lvl7pPr>
            <a:lvl8pPr marL="9601200" indent="0">
              <a:buNone/>
              <a:defRPr sz="6000"/>
            </a:lvl8pPr>
            <a:lvl9pPr marL="10972800" indent="0">
              <a:buNone/>
              <a:defRPr sz="6000"/>
            </a:lvl9pPr>
          </a:lstStyle>
          <a:p>
            <a:r>
              <a:rPr lang="en-US"/>
              <a:t>Click icon to add picture</a:t>
            </a:r>
            <a:endParaRPr lang="en-US" dirty="0"/>
          </a:p>
        </p:txBody>
      </p:sp>
      <p:sp>
        <p:nvSpPr>
          <p:cNvPr id="4" name="Text Placeholder 3"/>
          <p:cNvSpPr>
            <a:spLocks noGrp="1"/>
          </p:cNvSpPr>
          <p:nvPr>
            <p:ph type="body" sz="half" idx="2"/>
          </p:nvPr>
        </p:nvSpPr>
        <p:spPr>
          <a:xfrm>
            <a:off x="2519366" y="6858000"/>
            <a:ext cx="11796711" cy="1270529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22EAD5F1-5FA6-46ED-B88A-9079F30ACCA3}"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1930120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EAD5F1-5FA6-46ED-B88A-9079F30ACCA3}"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2439121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0" y="1217084"/>
            <a:ext cx="7886700" cy="193727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0" y="1217084"/>
            <a:ext cx="23202900" cy="193727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EAD5F1-5FA6-46ED-B88A-9079F30ACCA3}"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2571F-985A-492F-9CCC-42EFCA378532}" type="slidenum">
              <a:rPr lang="en-US" smtClean="0"/>
              <a:t>‹#›</a:t>
            </a:fld>
            <a:endParaRPr lang="en-US"/>
          </a:p>
        </p:txBody>
      </p:sp>
    </p:spTree>
    <p:extLst>
      <p:ext uri="{BB962C8B-B14F-4D97-AF65-F5344CB8AC3E}">
        <p14:creationId xmlns:p14="http://schemas.microsoft.com/office/powerpoint/2010/main" val="3505527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217085"/>
            <a:ext cx="31546800" cy="441854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14600" y="6085417"/>
            <a:ext cx="31546800" cy="145044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14600" y="21187835"/>
            <a:ext cx="8229600" cy="1217083"/>
          </a:xfrm>
          <a:prstGeom prst="rect">
            <a:avLst/>
          </a:prstGeom>
        </p:spPr>
        <p:txBody>
          <a:bodyPr vert="horz" lIns="91440" tIns="45720" rIns="91440" bIns="45720" rtlCol="0" anchor="ctr"/>
          <a:lstStyle>
            <a:lvl1pPr algn="l">
              <a:defRPr sz="3600">
                <a:solidFill>
                  <a:schemeClr val="tx1">
                    <a:tint val="82000"/>
                  </a:schemeClr>
                </a:solidFill>
              </a:defRPr>
            </a:lvl1pPr>
          </a:lstStyle>
          <a:p>
            <a:fld id="{22EAD5F1-5FA6-46ED-B88A-9079F30ACCA3}" type="datetimeFigureOut">
              <a:rPr lang="en-US" smtClean="0"/>
              <a:t>7/9/2026</a:t>
            </a:fld>
            <a:endParaRPr lang="en-US"/>
          </a:p>
        </p:txBody>
      </p:sp>
      <p:sp>
        <p:nvSpPr>
          <p:cNvPr id="5" name="Footer Placeholder 4"/>
          <p:cNvSpPr>
            <a:spLocks noGrp="1"/>
          </p:cNvSpPr>
          <p:nvPr>
            <p:ph type="ftr" sz="quarter" idx="3"/>
          </p:nvPr>
        </p:nvSpPr>
        <p:spPr>
          <a:xfrm>
            <a:off x="12115800" y="21187835"/>
            <a:ext cx="12344400" cy="1217083"/>
          </a:xfrm>
          <a:prstGeom prst="rect">
            <a:avLst/>
          </a:prstGeom>
        </p:spPr>
        <p:txBody>
          <a:bodyPr vert="horz" lIns="91440" tIns="45720" rIns="91440" bIns="45720" rtlCol="0" anchor="ctr"/>
          <a:lstStyle>
            <a:lvl1pPr algn="ctr">
              <a:defRPr sz="3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5831800" y="21187835"/>
            <a:ext cx="8229600" cy="1217083"/>
          </a:xfrm>
          <a:prstGeom prst="rect">
            <a:avLst/>
          </a:prstGeom>
        </p:spPr>
        <p:txBody>
          <a:bodyPr vert="horz" lIns="91440" tIns="45720" rIns="91440" bIns="45720" rtlCol="0" anchor="ctr"/>
          <a:lstStyle>
            <a:lvl1pPr algn="r">
              <a:defRPr sz="3600">
                <a:solidFill>
                  <a:schemeClr val="tx1">
                    <a:tint val="82000"/>
                  </a:schemeClr>
                </a:solidFill>
              </a:defRPr>
            </a:lvl1pPr>
          </a:lstStyle>
          <a:p>
            <a:fld id="{AE02571F-985A-492F-9CCC-42EFCA378532}" type="slidenum">
              <a:rPr lang="en-US" smtClean="0"/>
              <a:t>‹#›</a:t>
            </a:fld>
            <a:endParaRPr lang="en-US"/>
          </a:p>
        </p:txBody>
      </p:sp>
    </p:spTree>
    <p:extLst>
      <p:ext uri="{BB962C8B-B14F-4D97-AF65-F5344CB8AC3E}">
        <p14:creationId xmlns:p14="http://schemas.microsoft.com/office/powerpoint/2010/main" val="8145520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cdc.gov/mosquitoes/about/life-cycle-of-anopheles-mosquitoes.html" TargetMode="External"/><Relationship Id="rId13" Type="http://schemas.openxmlformats.org/officeDocument/2006/relationships/image" Target="../media/image3.svg"/><Relationship Id="rId18" Type="http://schemas.openxmlformats.org/officeDocument/2006/relationships/image" Target="../media/image8.png"/><Relationship Id="rId3" Type="http://schemas.openxmlformats.org/officeDocument/2006/relationships/hyperlink" Target="https://doi.org/10.1053/j.saep.2004.01.008" TargetMode="External"/><Relationship Id="rId21" Type="http://schemas.openxmlformats.org/officeDocument/2006/relationships/image" Target="../media/image11.jpg"/><Relationship Id="rId7" Type="http://schemas.openxmlformats.org/officeDocument/2006/relationships/hyperlink" Target="https://www.cdc.gov/mosquitoes/about/culex-mosquitoes.html" TargetMode="External"/><Relationship Id="rId12" Type="http://schemas.openxmlformats.org/officeDocument/2006/relationships/image" Target="../media/image2.svg"/><Relationship Id="rId17" Type="http://schemas.openxmlformats.org/officeDocument/2006/relationships/image" Target="../media/image7.jpeg"/><Relationship Id="rId2" Type="http://schemas.openxmlformats.org/officeDocument/2006/relationships/hyperlink" Target="https://doi.org/10.1038/nature06536" TargetMode="External"/><Relationship Id="rId16" Type="http://schemas.openxmlformats.org/officeDocument/2006/relationships/image" Target="../media/image6.jpeg"/><Relationship Id="rId20" Type="http://schemas.openxmlformats.org/officeDocument/2006/relationships/image" Target="../media/image10.jpg"/><Relationship Id="rId1" Type="http://schemas.openxmlformats.org/officeDocument/2006/relationships/slideLayout" Target="../slideLayouts/slideLayout1.xml"/><Relationship Id="rId6" Type="http://schemas.openxmlformats.org/officeDocument/2006/relationships/hyperlink" Target="https://doi.org/10.1111/j.1749-6632.2011.06431.x" TargetMode="External"/><Relationship Id="rId11" Type="http://schemas.openxmlformats.org/officeDocument/2006/relationships/image" Target="../media/image1.png"/><Relationship Id="rId24" Type="http://schemas.openxmlformats.org/officeDocument/2006/relationships/image" Target="../media/image14.png"/><Relationship Id="rId5" Type="http://schemas.openxmlformats.org/officeDocument/2006/relationships/hyperlink" Target="https://doi.org/10.1016/j.scitotenv.2020.142372" TargetMode="External"/><Relationship Id="rId15" Type="http://schemas.openxmlformats.org/officeDocument/2006/relationships/image" Target="../media/image5.jpeg"/><Relationship Id="rId23" Type="http://schemas.openxmlformats.org/officeDocument/2006/relationships/image" Target="../media/image13.png"/><Relationship Id="rId10" Type="http://schemas.openxmlformats.org/officeDocument/2006/relationships/hyperlink" Target="https://www.juzaphoto.com/galleria.php?t=1444224&amp;l=it" TargetMode="External"/><Relationship Id="rId19" Type="http://schemas.openxmlformats.org/officeDocument/2006/relationships/image" Target="../media/image9.png"/><Relationship Id="rId4" Type="http://schemas.openxmlformats.org/officeDocument/2006/relationships/hyperlink" Target="https://doi.org/10.1111/nyas.13306" TargetMode="External"/><Relationship Id="rId9" Type="http://schemas.openxmlformats.org/officeDocument/2006/relationships/hyperlink" Target="https://www.vdci.net/blog/zika-challenging-mosquito-management/" TargetMode="External"/><Relationship Id="rId14" Type="http://schemas.openxmlformats.org/officeDocument/2006/relationships/image" Target="../media/image4.svg"/><Relationship Id="rId22"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2D3CFF-2E42-A697-DBDA-3822B3BCED46}"/>
              </a:ext>
            </a:extLst>
          </p:cNvPr>
          <p:cNvSpPr/>
          <p:nvPr/>
        </p:nvSpPr>
        <p:spPr>
          <a:xfrm>
            <a:off x="0" y="0"/>
            <a:ext cx="36576000" cy="522514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BFDA412B-FC0E-0AA5-5283-3641A3006924}"/>
              </a:ext>
            </a:extLst>
          </p:cNvPr>
          <p:cNvSpPr txBox="1"/>
          <p:nvPr/>
        </p:nvSpPr>
        <p:spPr>
          <a:xfrm>
            <a:off x="451821" y="-18231"/>
            <a:ext cx="29837873" cy="5208622"/>
          </a:xfrm>
          <a:prstGeom prst="rect">
            <a:avLst/>
          </a:prstGeom>
          <a:noFill/>
        </p:spPr>
        <p:txBody>
          <a:bodyPr wrap="square" lIns="91440" tIns="45720" rIns="91440" bIns="45720" rtlCol="0" anchor="t">
            <a:spAutoFit/>
          </a:bodyPr>
          <a:lstStyle/>
          <a:p>
            <a:pPr algn="ctr"/>
            <a:r>
              <a:rPr lang="it-IT" sz="8000" dirty="0"/>
              <a:t>Quantifying </a:t>
            </a:r>
            <a:r>
              <a:rPr lang="it-IT" sz="8000" i="1" dirty="0"/>
              <a:t>Salmonella enterica </a:t>
            </a:r>
            <a:r>
              <a:rPr lang="it-IT" sz="8000" dirty="0"/>
              <a:t>and </a:t>
            </a:r>
            <a:r>
              <a:rPr lang="it-IT" sz="8000" i="1" dirty="0"/>
              <a:t>Escherichia coli </a:t>
            </a:r>
            <a:r>
              <a:rPr lang="it-IT" sz="8000" dirty="0"/>
              <a:t>persistence in backyard environments </a:t>
            </a:r>
          </a:p>
          <a:p>
            <a:pPr algn="ctr"/>
            <a:r>
              <a:rPr lang="it-IT" sz="6000" dirty="0"/>
              <a:t>Luke Watters</a:t>
            </a:r>
            <a:r>
              <a:rPr lang="it-IT" sz="6000" baseline="30000" dirty="0"/>
              <a:t>1</a:t>
            </a:r>
            <a:r>
              <a:rPr lang="it-IT" sz="6000" dirty="0"/>
              <a:t>, Aniruddha Belsare</a:t>
            </a:r>
            <a:r>
              <a:rPr lang="it-IT" sz="6000" baseline="30000" dirty="0"/>
              <a:t>1,2</a:t>
            </a:r>
            <a:r>
              <a:rPr lang="it-IT" sz="6000" dirty="0"/>
              <a:t>, Tabeth Mwema</a:t>
            </a:r>
            <a:r>
              <a:rPr lang="it-IT" sz="6000" baseline="30000" dirty="0"/>
              <a:t>1</a:t>
            </a:r>
            <a:r>
              <a:rPr lang="it-IT" sz="6000" dirty="0"/>
              <a:t>, Alex Fisher</a:t>
            </a:r>
            <a:r>
              <a:rPr lang="it-IT" sz="6000" baseline="30000" dirty="0"/>
              <a:t>1</a:t>
            </a:r>
            <a:r>
              <a:rPr lang="it-IT" sz="6000" dirty="0"/>
              <a:t>, Grace Southerland</a:t>
            </a:r>
            <a:r>
              <a:rPr lang="it-IT" sz="6000" baseline="30000" dirty="0"/>
              <a:t>1</a:t>
            </a:r>
            <a:r>
              <a:rPr lang="it-IT" sz="6000" dirty="0"/>
              <a:t>, Janna Willoughby</a:t>
            </a:r>
            <a:r>
              <a:rPr lang="it-IT" sz="6000" baseline="30000" dirty="0"/>
              <a:t>1 </a:t>
            </a:r>
            <a:r>
              <a:rPr lang="it-IT" sz="6000" dirty="0"/>
              <a:t>and Kelsey McCune</a:t>
            </a:r>
            <a:r>
              <a:rPr lang="it-IT" sz="6000" baseline="30000" dirty="0"/>
              <a:t>1</a:t>
            </a:r>
          </a:p>
          <a:p>
            <a:pPr marL="742950" indent="-742950" algn="ctr">
              <a:buAutoNum type="arabicPeriod"/>
            </a:pPr>
            <a:r>
              <a:rPr lang="it-IT" sz="4400" dirty="0"/>
              <a:t>Auburn University College of Forestry, Wildlife, and Environment and 2. College of Veterinary Medicine</a:t>
            </a:r>
            <a:endParaRPr lang="en-US" sz="4400" dirty="0"/>
          </a:p>
        </p:txBody>
      </p:sp>
      <p:sp>
        <p:nvSpPr>
          <p:cNvPr id="9" name="TextBox 8">
            <a:extLst>
              <a:ext uri="{FF2B5EF4-FFF2-40B4-BE49-F238E27FC236}">
                <a16:creationId xmlns:a16="http://schemas.microsoft.com/office/drawing/2014/main" id="{B494E579-9A95-57CD-BE59-9EF2BF418F75}"/>
              </a:ext>
            </a:extLst>
          </p:cNvPr>
          <p:cNvSpPr txBox="1"/>
          <p:nvPr/>
        </p:nvSpPr>
        <p:spPr>
          <a:xfrm>
            <a:off x="644940" y="6510318"/>
            <a:ext cx="6508848" cy="7848302"/>
          </a:xfrm>
          <a:prstGeom prst="rect">
            <a:avLst/>
          </a:prstGeom>
          <a:noFill/>
          <a:ln>
            <a:noFill/>
          </a:ln>
        </p:spPr>
        <p:txBody>
          <a:bodyPr wrap="square" lIns="91440" tIns="45720" rIns="91440" bIns="45720" rtlCol="0" anchor="ctr">
            <a:spAutoFit/>
          </a:bodyPr>
          <a:lstStyle/>
          <a:p>
            <a:pPr marL="457200" indent="-457200">
              <a:buFont typeface="Arial" panose="020B0604020202020204" pitchFamily="34" charset="0"/>
              <a:buChar char="•"/>
            </a:pPr>
            <a:r>
              <a:rPr lang="en-US" sz="3600"/>
              <a:t>Bird </a:t>
            </a:r>
            <a:r>
              <a:rPr lang="en-US" sz="3600" dirty="0"/>
              <a:t>feeding </a:t>
            </a:r>
            <a:r>
              <a:rPr lang="en-US" sz="3600"/>
              <a:t>&amp; </a:t>
            </a:r>
            <a:r>
              <a:rPr lang="en-US" sz="3600" dirty="0"/>
              <a:t>poultry </a:t>
            </a:r>
            <a:r>
              <a:rPr lang="en-US" sz="3600"/>
              <a:t>activities </a:t>
            </a:r>
            <a:r>
              <a:rPr lang="en-US" sz="3600" dirty="0"/>
              <a:t>increase disease [1] </a:t>
            </a:r>
          </a:p>
          <a:p>
            <a:pPr marL="457200" indent="-457200">
              <a:buFont typeface="Arial" panose="020B0604020202020204" pitchFamily="34" charset="0"/>
              <a:buChar char="•"/>
            </a:pPr>
            <a:r>
              <a:rPr lang="en-US" sz="3600" dirty="0"/>
              <a:t>May promote </a:t>
            </a:r>
            <a:r>
              <a:rPr lang="en-US" sz="3600"/>
              <a:t>environmental </a:t>
            </a:r>
            <a:r>
              <a:rPr lang="en-US" sz="3600" dirty="0"/>
              <a:t>persistence of </a:t>
            </a:r>
            <a:r>
              <a:rPr lang="en-US" sz="3600" i="1" dirty="0"/>
              <a:t>S. enterica</a:t>
            </a:r>
            <a:r>
              <a:rPr lang="en-US" sz="3600" dirty="0"/>
              <a:t> and </a:t>
            </a:r>
            <a:r>
              <a:rPr lang="en-US" sz="3600" i="1" dirty="0"/>
              <a:t>E. coli </a:t>
            </a:r>
            <a:r>
              <a:rPr lang="en-US" sz="3600" dirty="0"/>
              <a:t>[2] </a:t>
            </a:r>
          </a:p>
          <a:p>
            <a:pPr marL="457200" indent="-457200">
              <a:buFont typeface="Arial" panose="020B0604020202020204" pitchFamily="34" charset="0"/>
              <a:buChar char="•"/>
            </a:pPr>
            <a:r>
              <a:rPr lang="en-US" sz="3600" dirty="0"/>
              <a:t>Backyards also support mosquitoes [3, 4]</a:t>
            </a:r>
            <a:r>
              <a:rPr lang="en-US" sz="3600"/>
              <a:t>  that are</a:t>
            </a:r>
            <a:r>
              <a:rPr lang="en-US" sz="3600" dirty="0"/>
              <a:t> vectors for West Nile Virus, Zika, avian malaria [5, 6, 7]</a:t>
            </a:r>
          </a:p>
          <a:p>
            <a:pPr marL="457200" indent="-457200">
              <a:buFont typeface="Arial" panose="020B0604020202020204" pitchFamily="34" charset="0"/>
              <a:buChar char="•"/>
            </a:pPr>
            <a:r>
              <a:rPr lang="en-US" sz="3600" b="1" dirty="0"/>
              <a:t>We evaluated bacterial persistence and mosquito patterns across different yard activities</a:t>
            </a:r>
            <a:endParaRPr lang="en-US" sz="3600" dirty="0"/>
          </a:p>
          <a:p>
            <a:pPr marL="285750" indent="-285750">
              <a:buFont typeface="Arial" panose="020B0604020202020204" pitchFamily="34" charset="0"/>
              <a:buChar char="•"/>
            </a:pPr>
            <a:endParaRPr lang="en-US" sz="3600" dirty="0"/>
          </a:p>
        </p:txBody>
      </p:sp>
      <p:sp>
        <p:nvSpPr>
          <p:cNvPr id="10" name="TextBox 9">
            <a:extLst>
              <a:ext uri="{FF2B5EF4-FFF2-40B4-BE49-F238E27FC236}">
                <a16:creationId xmlns:a16="http://schemas.microsoft.com/office/drawing/2014/main" id="{8FF37CE8-69A0-D8F4-5D22-B83D92E1EED4}"/>
              </a:ext>
            </a:extLst>
          </p:cNvPr>
          <p:cNvSpPr txBox="1"/>
          <p:nvPr/>
        </p:nvSpPr>
        <p:spPr>
          <a:xfrm>
            <a:off x="644940" y="15016572"/>
            <a:ext cx="6371728" cy="5632311"/>
          </a:xfrm>
          <a:prstGeom prst="rect">
            <a:avLst/>
          </a:prstGeom>
          <a:noFill/>
          <a:ln>
            <a:noFill/>
          </a:ln>
        </p:spPr>
        <p:txBody>
          <a:bodyPr wrap="square" rtlCol="0">
            <a:spAutoFit/>
          </a:bodyPr>
          <a:lstStyle/>
          <a:p>
            <a:pPr marL="457200" indent="-457200">
              <a:buFont typeface="Arial" panose="020B0604020202020204" pitchFamily="34" charset="0"/>
              <a:buChar char="•"/>
            </a:pPr>
            <a:r>
              <a:rPr lang="en-US" sz="3600" dirty="0"/>
              <a:t>Sites: </a:t>
            </a:r>
          </a:p>
          <a:p>
            <a:pPr marL="457200" indent="-457200">
              <a:buFont typeface="Arial" panose="020B0604020202020204" pitchFamily="34" charset="0"/>
              <a:buChar char="•"/>
            </a:pPr>
            <a:endParaRPr lang="en-US" sz="3600" dirty="0"/>
          </a:p>
          <a:p>
            <a:pPr marL="457200" indent="-457200">
              <a:buFont typeface="Arial" panose="020B0604020202020204" pitchFamily="34" charset="0"/>
              <a:buChar char="•"/>
            </a:pPr>
            <a:endParaRPr lang="en-US" sz="3600" dirty="0"/>
          </a:p>
          <a:p>
            <a:pPr marL="457200" indent="-457200">
              <a:buFont typeface="Arial" panose="020B0604020202020204" pitchFamily="34" charset="0"/>
              <a:buChar char="•"/>
            </a:pPr>
            <a:r>
              <a:rPr lang="en-US" sz="3600" dirty="0"/>
              <a:t>Environmental samples collected biweekly beneath feeders or coops </a:t>
            </a:r>
          </a:p>
          <a:p>
            <a:pPr marL="457200" indent="-457200">
              <a:buFont typeface="Arial" panose="020B0604020202020204" pitchFamily="34" charset="0"/>
              <a:buChar char="•"/>
            </a:pPr>
            <a:r>
              <a:rPr lang="en-US" sz="3600" dirty="0"/>
              <a:t>Cultured for bacteria</a:t>
            </a:r>
          </a:p>
          <a:p>
            <a:pPr marL="457200" indent="-457200">
              <a:buFont typeface="Arial" panose="020B0604020202020204" pitchFamily="34" charset="0"/>
              <a:buChar char="•"/>
            </a:pPr>
            <a:r>
              <a:rPr lang="en-US" sz="3600" dirty="0"/>
              <a:t>Mosquitoes collected twice per site using CO₂-baited fan traps</a:t>
            </a:r>
          </a:p>
        </p:txBody>
      </p:sp>
      <p:sp>
        <p:nvSpPr>
          <p:cNvPr id="3" name="TextBox 2">
            <a:extLst>
              <a:ext uri="{FF2B5EF4-FFF2-40B4-BE49-F238E27FC236}">
                <a16:creationId xmlns:a16="http://schemas.microsoft.com/office/drawing/2014/main" id="{3222343C-EC2B-B6A9-049E-342015854A26}"/>
              </a:ext>
            </a:extLst>
          </p:cNvPr>
          <p:cNvSpPr txBox="1"/>
          <p:nvPr/>
        </p:nvSpPr>
        <p:spPr>
          <a:xfrm>
            <a:off x="30321644" y="17371357"/>
            <a:ext cx="5905079" cy="5570756"/>
          </a:xfrm>
          <a:prstGeom prst="rect">
            <a:avLst/>
          </a:prstGeom>
          <a:noFill/>
        </p:spPr>
        <p:txBody>
          <a:bodyPr wrap="square" rtlCol="0">
            <a:spAutoFit/>
          </a:bodyPr>
          <a:lstStyle/>
          <a:p>
            <a:endParaRPr lang="en-US" sz="1100" dirty="0"/>
          </a:p>
          <a:p>
            <a:pPr marL="342900" indent="-342900">
              <a:buAutoNum type="arabicPeriod"/>
            </a:pPr>
            <a:r>
              <a:rPr lang="en-US" sz="1150" dirty="0"/>
              <a:t>Jones, K. E., Patel, N. G., Levy, M. A., </a:t>
            </a:r>
            <a:r>
              <a:rPr lang="en-US" sz="1150" dirty="0" err="1"/>
              <a:t>Storeygard</a:t>
            </a:r>
            <a:r>
              <a:rPr lang="en-US" sz="1150" dirty="0"/>
              <a:t>, A., Balk, D., Gittleman, J. L., &amp; </a:t>
            </a:r>
            <a:r>
              <a:rPr lang="en-US" sz="1150" dirty="0" err="1"/>
              <a:t>Daszak</a:t>
            </a:r>
            <a:r>
              <a:rPr lang="en-US" sz="1150" dirty="0"/>
              <a:t>, P. (2008). Global trends in emerging infectious diseases. </a:t>
            </a:r>
            <a:r>
              <a:rPr lang="en-US" sz="1150" i="1" dirty="0"/>
              <a:t>Nature, 451</a:t>
            </a:r>
            <a:r>
              <a:rPr lang="en-US" sz="1150" dirty="0"/>
              <a:t>(7181), 990–993.</a:t>
            </a:r>
            <a:r>
              <a:rPr lang="en-US" sz="1150" dirty="0">
                <a:hlinkClick r:id="rId2"/>
              </a:rPr>
              <a:t> </a:t>
            </a:r>
            <a:r>
              <a:rPr lang="en-US" sz="1150" u="sng" dirty="0"/>
              <a:t>https://doi.org/10.1038/nature06536 </a:t>
            </a:r>
          </a:p>
          <a:p>
            <a:pPr marL="342900" indent="-342900">
              <a:buAutoNum type="arabicPeriod"/>
            </a:pPr>
            <a:r>
              <a:rPr lang="en-US" sz="1150" dirty="0"/>
              <a:t>Tizard, I. (2004). Salmonellosis in wild birds. </a:t>
            </a:r>
            <a:r>
              <a:rPr lang="en-US" sz="1150" i="1" dirty="0"/>
              <a:t>Seminars in Avian and Exotic Pet Medicine, 13</a:t>
            </a:r>
            <a:r>
              <a:rPr lang="en-US" sz="1150" dirty="0"/>
              <a:t>(2), 50–66. </a:t>
            </a:r>
            <a:r>
              <a:rPr lang="en-US" sz="1150" dirty="0">
                <a:hlinkClick r:id="rId3"/>
              </a:rPr>
              <a:t>https://doi.org/10.1053/j.saep.2004.01.008</a:t>
            </a:r>
            <a:endParaRPr lang="en-US" sz="1150" dirty="0"/>
          </a:p>
          <a:p>
            <a:pPr marL="342900" indent="-342900">
              <a:buFontTx/>
              <a:buAutoNum type="arabicPeriod"/>
            </a:pPr>
            <a:r>
              <a:rPr lang="en-US" sz="1150" dirty="0" err="1"/>
              <a:t>Shragai</a:t>
            </a:r>
            <a:r>
              <a:rPr lang="en-US" sz="1150" dirty="0"/>
              <a:t>, T., Tesla, B., Murdock, C. and Harrington, L.C. (2017), Zika and chikungunya: mosquito-borne viruses in a changing world. Ann. N.Y. Acad. Sci., 1399: 61-77. </a:t>
            </a:r>
            <a:r>
              <a:rPr lang="en-US" sz="1150" u="sng" dirty="0">
                <a:hlinkClick r:id="rId4"/>
              </a:rPr>
              <a:t>https://doi.org/10.1111/nyas.13306</a:t>
            </a:r>
            <a:endParaRPr lang="en-US" sz="1150" dirty="0"/>
          </a:p>
          <a:p>
            <a:pPr marL="342900" indent="-342900">
              <a:buFontTx/>
              <a:buAutoNum type="arabicPeriod"/>
            </a:pPr>
            <a:r>
              <a:rPr lang="en-US" sz="1150" dirty="0"/>
              <a:t>Nabi, G., Wang, Y., </a:t>
            </a:r>
            <a:r>
              <a:rPr lang="en-US" sz="1150" dirty="0" err="1"/>
              <a:t>Lü</a:t>
            </a:r>
            <a:r>
              <a:rPr lang="en-US" sz="1150" dirty="0"/>
              <a:t>, L., Jiang, C., Ahmad, S., Wu, Y., &amp; Li, D. (2021). Bats and birds as viral reservoirs: A physiological and ecological perspective. Science of The Total Environment, 754, 142372. </a:t>
            </a:r>
            <a:r>
              <a:rPr lang="en-US" sz="1150" u="sng" dirty="0">
                <a:hlinkClick r:id="rId5"/>
              </a:rPr>
              <a:t>https://doi.org/10.1016/j.scitotenv.2020.142372</a:t>
            </a:r>
            <a:endParaRPr lang="en-US" sz="1150" dirty="0"/>
          </a:p>
          <a:p>
            <a:pPr marL="342900" indent="-342900">
              <a:buAutoNum type="arabicPeriod"/>
            </a:pPr>
            <a:r>
              <a:rPr lang="en-US" sz="1150" dirty="0"/>
              <a:t>Bernard KA, Maffei JG, Jones SA, Kauffman EB, Ebel G, Dupuis AP 2nd, Ngo KA, Nicholas DC, Young DM, Shi PY, Kulasekera VL, Eidson M, White DJ, Stone WB, Kramer LD; NY State West Nile Virus Surveillance Team. West Nile virus infection in birds and mosquitoes, New York State, 2000. Emerg Infect Dis. 2001 Jul-Aug;7(4):679-85. </a:t>
            </a:r>
            <a:r>
              <a:rPr lang="en-US" sz="1150" dirty="0" err="1"/>
              <a:t>doi</a:t>
            </a:r>
            <a:r>
              <a:rPr lang="en-US" sz="1150" dirty="0"/>
              <a:t>: 10.3201/eid0704.010415. PMID: 11585532; PMCID: PMC2631772.</a:t>
            </a:r>
          </a:p>
          <a:p>
            <a:pPr marL="342900" indent="-342900">
              <a:buAutoNum type="arabicPeriod"/>
            </a:pPr>
            <a:r>
              <a:rPr lang="en-US" sz="1150" dirty="0"/>
              <a:t>Armstrong PM, Andreadis TG. Eastern equine encephalitis virus in mosquitoes and their role as bridge vectors. Emerg Infect Dis. 2010 Dec;16(12):1869-74. </a:t>
            </a:r>
            <a:r>
              <a:rPr lang="en-US" sz="1150" dirty="0" err="1"/>
              <a:t>doi</a:t>
            </a:r>
            <a:r>
              <a:rPr lang="en-US" sz="1150" dirty="0"/>
              <a:t>: 10.3201/eid1612.100640. PMID: 21122215; PMCID: PMC3294553. </a:t>
            </a:r>
          </a:p>
          <a:p>
            <a:pPr marL="342900" indent="-342900">
              <a:buAutoNum type="arabicPeriod"/>
            </a:pPr>
            <a:r>
              <a:rPr lang="en-US" sz="1150" dirty="0"/>
              <a:t>LaPointe, D.A., Atkinson, C.T. and Samuel, M.D. (2012), Ecology and conservation biology of avian malaria. Annals of the New York Academy of Sciences, 1249: 211-226. </a:t>
            </a:r>
            <a:r>
              <a:rPr lang="en-US" sz="1150" u="sng" dirty="0">
                <a:hlinkClick r:id="rId6"/>
              </a:rPr>
              <a:t>https://doi.org/10.1111/j.1749-6632.2011.06431.x</a:t>
            </a:r>
            <a:endParaRPr lang="en-US" sz="1150" u="sng" dirty="0"/>
          </a:p>
          <a:p>
            <a:pPr marL="342900" indent="-342900">
              <a:buFontTx/>
              <a:buAutoNum type="arabicPeriod"/>
            </a:pPr>
            <a:r>
              <a:rPr lang="en-US" sz="1150" dirty="0"/>
              <a:t>Centers for Disease Control and Prevention. (2025). </a:t>
            </a:r>
            <a:r>
              <a:rPr lang="en-US" sz="1150" i="1" dirty="0"/>
              <a:t>Culex mosquito</a:t>
            </a:r>
            <a:r>
              <a:rPr lang="en-US" sz="1150" dirty="0"/>
              <a:t> [Photograph]. CDC. </a:t>
            </a:r>
            <a:r>
              <a:rPr lang="en-US" sz="1150" dirty="0">
                <a:hlinkClick r:id="rId7"/>
              </a:rPr>
              <a:t>About Culex Mosquitoes | Mosquitoes | CDC</a:t>
            </a:r>
            <a:endParaRPr lang="en-US" sz="1150" dirty="0"/>
          </a:p>
          <a:p>
            <a:pPr marL="342900" indent="-342900">
              <a:buFontTx/>
              <a:buAutoNum type="arabicPeriod"/>
            </a:pPr>
            <a:r>
              <a:rPr lang="en-US" sz="1150" dirty="0"/>
              <a:t>Centers for Disease Control and Prevention. (2024). </a:t>
            </a:r>
            <a:r>
              <a:rPr lang="en-US" sz="1150" i="1" dirty="0"/>
              <a:t>Anopheles mosquito</a:t>
            </a:r>
            <a:r>
              <a:rPr lang="en-US" sz="1150" dirty="0"/>
              <a:t> [Photograph]. CDC. </a:t>
            </a:r>
            <a:r>
              <a:rPr lang="en-US" sz="1150" dirty="0">
                <a:hlinkClick r:id="rId8"/>
              </a:rPr>
              <a:t>Life Cycle of Anopheles Mosquitoes | Mosquitoes | CDC</a:t>
            </a:r>
            <a:endParaRPr lang="en-US" sz="1150" dirty="0"/>
          </a:p>
          <a:p>
            <a:pPr marL="342900" indent="-342900">
              <a:buFontTx/>
              <a:buAutoNum type="arabicPeriod"/>
            </a:pPr>
            <a:r>
              <a:rPr lang="en-US" sz="1150" dirty="0"/>
              <a:t>VDCI Mosquito Management. (2026). </a:t>
            </a:r>
            <a:r>
              <a:rPr lang="en-US" sz="1150" i="1" dirty="0"/>
              <a:t>Aedes aegypti mosquito </a:t>
            </a:r>
            <a:r>
              <a:rPr lang="en-US" sz="1150" dirty="0"/>
              <a:t>[Photograph]. VDCI. </a:t>
            </a:r>
            <a:r>
              <a:rPr lang="en-US" sz="1150" dirty="0">
                <a:hlinkClick r:id="rId9"/>
              </a:rPr>
              <a:t>The Challenges in Managing Aedes Aegypti</a:t>
            </a:r>
            <a:endParaRPr lang="en-US" sz="1150" dirty="0"/>
          </a:p>
          <a:p>
            <a:pPr marL="342900" indent="-342900">
              <a:buFontTx/>
              <a:buAutoNum type="arabicPeriod"/>
            </a:pPr>
            <a:r>
              <a:rPr lang="en-US" sz="1150" dirty="0" err="1"/>
              <a:t>JuzaPhoto</a:t>
            </a:r>
            <a:r>
              <a:rPr lang="en-US" sz="1150" dirty="0"/>
              <a:t>. (2015). Aedes albopictus mosquito. [Photograph]. </a:t>
            </a:r>
            <a:r>
              <a:rPr lang="en-US" sz="1150" dirty="0" err="1"/>
              <a:t>JuzaPhoto</a:t>
            </a:r>
            <a:r>
              <a:rPr lang="en-US" sz="1150" dirty="0"/>
              <a:t>. </a:t>
            </a:r>
            <a:r>
              <a:rPr lang="en-US" sz="1150" dirty="0">
                <a:hlinkClick r:id="rId10"/>
              </a:rPr>
              <a:t>Aedes albopictus | </a:t>
            </a:r>
            <a:r>
              <a:rPr lang="en-US" sz="1150" dirty="0" err="1">
                <a:hlinkClick r:id="rId10"/>
              </a:rPr>
              <a:t>JuzaPhoto</a:t>
            </a:r>
            <a:endParaRPr lang="en-US" sz="1150" dirty="0"/>
          </a:p>
        </p:txBody>
      </p:sp>
      <p:sp>
        <p:nvSpPr>
          <p:cNvPr id="5" name="TextBox 4">
            <a:extLst>
              <a:ext uri="{FF2B5EF4-FFF2-40B4-BE49-F238E27FC236}">
                <a16:creationId xmlns:a16="http://schemas.microsoft.com/office/drawing/2014/main" id="{F6D31925-D220-5A2E-E7BC-AAD6FB10D719}"/>
              </a:ext>
            </a:extLst>
          </p:cNvPr>
          <p:cNvSpPr txBox="1"/>
          <p:nvPr/>
        </p:nvSpPr>
        <p:spPr>
          <a:xfrm>
            <a:off x="30307827" y="6385851"/>
            <a:ext cx="5912100" cy="11633954"/>
          </a:xfrm>
          <a:prstGeom prst="rect">
            <a:avLst/>
          </a:prstGeom>
          <a:noFill/>
        </p:spPr>
        <p:txBody>
          <a:bodyPr wrap="square" lIns="91440" tIns="45720" rIns="91440" bIns="45720" rtlCol="0" anchor="t">
            <a:spAutoFit/>
          </a:bodyPr>
          <a:lstStyle/>
          <a:p>
            <a:pPr marL="571500" indent="-571500">
              <a:buFont typeface="Arial"/>
              <a:buChar char="•"/>
            </a:pPr>
            <a:r>
              <a:rPr lang="en-US" sz="3600" dirty="0"/>
              <a:t>No one mosquito genus was more prevalent than the others </a:t>
            </a:r>
            <a:endParaRPr lang="en-US"/>
          </a:p>
          <a:p>
            <a:pPr marL="571500" indent="-571500">
              <a:buFont typeface="Arial"/>
              <a:buChar char="•"/>
            </a:pPr>
            <a:r>
              <a:rPr lang="en-US" sz="3600" dirty="0"/>
              <a:t>Number of mosquitoes in 					was fewer than other sites</a:t>
            </a:r>
            <a:endParaRPr lang="en-US" sz="3600"/>
          </a:p>
          <a:p>
            <a:pPr marL="571500" indent="-571500">
              <a:buFont typeface="Arial"/>
              <a:buChar char="•"/>
            </a:pPr>
            <a:r>
              <a:rPr lang="en-US" sz="3600" dirty="0"/>
              <a:t>No differences in bacterial</a:t>
            </a:r>
            <a:r>
              <a:rPr lang="en-US" sz="3600" i="1" dirty="0"/>
              <a:t> </a:t>
            </a:r>
            <a:r>
              <a:rPr lang="en-US" sz="3600" dirty="0"/>
              <a:t>prevalence </a:t>
            </a:r>
            <a:r>
              <a:rPr lang="en-US" sz="3600"/>
              <a:t>among </a:t>
            </a:r>
            <a:r>
              <a:rPr lang="en-US" sz="3600" dirty="0"/>
              <a:t>site conditions</a:t>
            </a:r>
            <a:endParaRPr lang="en-US" sz="3600"/>
          </a:p>
          <a:p>
            <a:pPr marL="571500" indent="-571500">
              <a:buFont typeface="Arial"/>
              <a:buChar char="•"/>
            </a:pPr>
            <a:r>
              <a:rPr lang="en-US" sz="3600" dirty="0"/>
              <a:t>Backyard activities may impact mosquito, but not bacterial presence</a:t>
            </a:r>
            <a:endParaRPr lang="en-US" sz="3600"/>
          </a:p>
          <a:p>
            <a:pPr marL="571500" indent="-571500">
              <a:buFont typeface="Arial"/>
              <a:buChar char="•"/>
            </a:pPr>
            <a:endParaRPr lang="en-US" sz="3600"/>
          </a:p>
          <a:p>
            <a:pPr marL="571500" indent="-571500">
              <a:buFont typeface="Arial"/>
              <a:buChar char="•"/>
            </a:pPr>
            <a:r>
              <a:rPr lang="en-US" sz="3600" u="sng"/>
              <a:t>Future plans</a:t>
            </a:r>
            <a:r>
              <a:rPr lang="en-US" sz="3600" dirty="0"/>
              <a:t>:</a:t>
            </a:r>
            <a:endParaRPr lang="en-US" sz="3600"/>
          </a:p>
          <a:p>
            <a:pPr marL="400050" indent="-400050"/>
            <a:r>
              <a:rPr lang="en-US" sz="3600"/>
              <a:t>1. </a:t>
            </a:r>
            <a:r>
              <a:rPr lang="en-US" sz="3600" dirty="0"/>
              <a:t>Finish processing </a:t>
            </a:r>
            <a:r>
              <a:rPr lang="en-US" sz="3600" i="1" dirty="0"/>
              <a:t>S. enterica </a:t>
            </a:r>
            <a:endParaRPr lang="en-US" sz="3600" i="1"/>
          </a:p>
          <a:p>
            <a:pPr marL="400050" indent="-400050"/>
            <a:r>
              <a:rPr lang="en-US" sz="3600"/>
              <a:t>2. </a:t>
            </a:r>
            <a:r>
              <a:rPr lang="en-US" sz="3600" dirty="0"/>
              <a:t>Collect samples over different seasons</a:t>
            </a:r>
            <a:endParaRPr lang="en-US" sz="3600"/>
          </a:p>
          <a:p>
            <a:endParaRPr lang="en-US" sz="3400" dirty="0"/>
          </a:p>
          <a:p>
            <a:pPr marL="571500" indent="-571500">
              <a:buFont typeface="Arial"/>
              <a:buChar char="•"/>
            </a:pPr>
            <a:endParaRPr lang="en-US" sz="3400" i="1"/>
          </a:p>
          <a:p>
            <a:endParaRPr lang="en-US" sz="3400" dirty="0"/>
          </a:p>
        </p:txBody>
      </p:sp>
      <p:sp>
        <p:nvSpPr>
          <p:cNvPr id="6" name="TextBox 5">
            <a:extLst>
              <a:ext uri="{FF2B5EF4-FFF2-40B4-BE49-F238E27FC236}">
                <a16:creationId xmlns:a16="http://schemas.microsoft.com/office/drawing/2014/main" id="{010974E5-DFD4-3A21-A125-F5E368D01883}"/>
              </a:ext>
            </a:extLst>
          </p:cNvPr>
          <p:cNvSpPr txBox="1"/>
          <p:nvPr/>
        </p:nvSpPr>
        <p:spPr>
          <a:xfrm>
            <a:off x="18296882" y="13271166"/>
            <a:ext cx="10935156" cy="1200329"/>
          </a:xfrm>
          <a:prstGeom prst="rect">
            <a:avLst/>
          </a:prstGeom>
          <a:noFill/>
        </p:spPr>
        <p:txBody>
          <a:bodyPr wrap="square" lIns="91440" tIns="45720" rIns="91440" bIns="45720" rtlCol="0" anchor="t">
            <a:spAutoFit/>
          </a:bodyPr>
          <a:lstStyle/>
          <a:p>
            <a:r>
              <a:rPr lang="en-US" sz="3600" b="1" dirty="0"/>
              <a:t>Figure 1. </a:t>
            </a:r>
            <a:r>
              <a:rPr lang="en-US" sz="3600"/>
              <a:t>No difference in</a:t>
            </a:r>
            <a:r>
              <a:rPr lang="en-US" sz="3600" dirty="0"/>
              <a:t> bacteria</a:t>
            </a:r>
            <a:r>
              <a:rPr lang="en-US" sz="3600" i="1" dirty="0"/>
              <a:t> </a:t>
            </a:r>
            <a:r>
              <a:rPr lang="en-US" sz="3600" dirty="0"/>
              <a:t>in each site condition</a:t>
            </a:r>
            <a:r>
              <a:rPr lang="en-US" sz="3600" i="1" dirty="0"/>
              <a:t> </a:t>
            </a:r>
            <a:r>
              <a:rPr lang="en-US" sz="3600" dirty="0"/>
              <a:t>over time.</a:t>
            </a:r>
          </a:p>
        </p:txBody>
      </p:sp>
      <p:pic>
        <p:nvPicPr>
          <p:cNvPr id="15" name="Picture 14">
            <a:extLst>
              <a:ext uri="{FF2B5EF4-FFF2-40B4-BE49-F238E27FC236}">
                <a16:creationId xmlns:a16="http://schemas.microsoft.com/office/drawing/2014/main" id="{2677073E-0D5F-E982-0F83-2BA9F9CC9BB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0967135" y="260968"/>
            <a:ext cx="5238750" cy="4324350"/>
          </a:xfrm>
          <a:prstGeom prst="rect">
            <a:avLst/>
          </a:prstGeom>
        </p:spPr>
      </p:pic>
      <p:sp>
        <p:nvSpPr>
          <p:cNvPr id="20" name="Rectangle 19">
            <a:extLst>
              <a:ext uri="{FF2B5EF4-FFF2-40B4-BE49-F238E27FC236}">
                <a16:creationId xmlns:a16="http://schemas.microsoft.com/office/drawing/2014/main" id="{062378E1-37DF-9829-BC02-4B3CC4F3A3D9}"/>
              </a:ext>
            </a:extLst>
          </p:cNvPr>
          <p:cNvSpPr/>
          <p:nvPr/>
        </p:nvSpPr>
        <p:spPr>
          <a:xfrm>
            <a:off x="710700" y="5474537"/>
            <a:ext cx="5912100" cy="696306"/>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Introduction</a:t>
            </a:r>
          </a:p>
        </p:txBody>
      </p:sp>
      <p:sp>
        <p:nvSpPr>
          <p:cNvPr id="21" name="Rectangle 20">
            <a:extLst>
              <a:ext uri="{FF2B5EF4-FFF2-40B4-BE49-F238E27FC236}">
                <a16:creationId xmlns:a16="http://schemas.microsoft.com/office/drawing/2014/main" id="{26B61B86-5838-D155-CC74-B732A8BBFE2A}"/>
              </a:ext>
            </a:extLst>
          </p:cNvPr>
          <p:cNvSpPr/>
          <p:nvPr/>
        </p:nvSpPr>
        <p:spPr>
          <a:xfrm>
            <a:off x="19638515" y="5474537"/>
            <a:ext cx="7695493" cy="6963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Results</a:t>
            </a:r>
          </a:p>
        </p:txBody>
      </p:sp>
      <p:sp>
        <p:nvSpPr>
          <p:cNvPr id="11" name="Rectangle 10">
            <a:extLst>
              <a:ext uri="{FF2B5EF4-FFF2-40B4-BE49-F238E27FC236}">
                <a16:creationId xmlns:a16="http://schemas.microsoft.com/office/drawing/2014/main" id="{EED96ED7-E4A8-C21B-4BD8-AB2B0443EA7B}"/>
              </a:ext>
            </a:extLst>
          </p:cNvPr>
          <p:cNvSpPr/>
          <p:nvPr/>
        </p:nvSpPr>
        <p:spPr>
          <a:xfrm>
            <a:off x="710700" y="14274642"/>
            <a:ext cx="5912100" cy="6963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Methods</a:t>
            </a:r>
          </a:p>
        </p:txBody>
      </p:sp>
      <p:pic>
        <p:nvPicPr>
          <p:cNvPr id="19" name="Graphic 18" descr="Sparrow with solid fill">
            <a:extLst>
              <a:ext uri="{FF2B5EF4-FFF2-40B4-BE49-F238E27FC236}">
                <a16:creationId xmlns:a16="http://schemas.microsoft.com/office/drawing/2014/main" id="{9C7B0686-819D-D711-A0F1-48B4390E1B3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15357" y="15543996"/>
            <a:ext cx="1256599" cy="1256599"/>
          </a:xfrm>
          <a:prstGeom prst="rect">
            <a:avLst/>
          </a:prstGeom>
        </p:spPr>
      </p:pic>
      <p:pic>
        <p:nvPicPr>
          <p:cNvPr id="23" name="Graphic 22" descr="Rooster with solid fill">
            <a:extLst>
              <a:ext uri="{FF2B5EF4-FFF2-40B4-BE49-F238E27FC236}">
                <a16:creationId xmlns:a16="http://schemas.microsoft.com/office/drawing/2014/main" id="{9832E4AB-0285-3877-529F-DA41F3B6CC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988065" y="15538236"/>
            <a:ext cx="1256601" cy="1256601"/>
          </a:xfrm>
          <a:prstGeom prst="rect">
            <a:avLst/>
          </a:prstGeom>
        </p:spPr>
      </p:pic>
      <p:pic>
        <p:nvPicPr>
          <p:cNvPr id="25" name="Graphic 24" descr="Forbidden with solid fill">
            <a:extLst>
              <a:ext uri="{FF2B5EF4-FFF2-40B4-BE49-F238E27FC236}">
                <a16:creationId xmlns:a16="http://schemas.microsoft.com/office/drawing/2014/main" id="{47536AB9-45A7-DF82-690E-461BF7512A9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800632" y="15544551"/>
            <a:ext cx="1256600" cy="1256600"/>
          </a:xfrm>
          <a:prstGeom prst="rect">
            <a:avLst/>
          </a:prstGeom>
        </p:spPr>
      </p:pic>
      <p:sp>
        <p:nvSpPr>
          <p:cNvPr id="27" name="TextBox 26">
            <a:extLst>
              <a:ext uri="{FF2B5EF4-FFF2-40B4-BE49-F238E27FC236}">
                <a16:creationId xmlns:a16="http://schemas.microsoft.com/office/drawing/2014/main" id="{80B32A3F-3B51-1EC0-3824-77D2E4A783D2}"/>
              </a:ext>
            </a:extLst>
          </p:cNvPr>
          <p:cNvSpPr txBox="1"/>
          <p:nvPr/>
        </p:nvSpPr>
        <p:spPr>
          <a:xfrm>
            <a:off x="1969147" y="15411573"/>
            <a:ext cx="424623" cy="615553"/>
          </a:xfrm>
          <a:prstGeom prst="rect">
            <a:avLst/>
          </a:prstGeom>
          <a:noFill/>
        </p:spPr>
        <p:txBody>
          <a:bodyPr wrap="square" rtlCol="0">
            <a:spAutoFit/>
          </a:bodyPr>
          <a:lstStyle/>
          <a:p>
            <a:r>
              <a:rPr lang="en-US" sz="3400" dirty="0"/>
              <a:t>           </a:t>
            </a:r>
          </a:p>
        </p:txBody>
      </p:sp>
      <p:pic>
        <p:nvPicPr>
          <p:cNvPr id="31" name="Graphic 30" descr="Sparrow with solid fill">
            <a:extLst>
              <a:ext uri="{FF2B5EF4-FFF2-40B4-BE49-F238E27FC236}">
                <a16:creationId xmlns:a16="http://schemas.microsoft.com/office/drawing/2014/main" id="{D93FA56F-522B-F301-22DD-863481EE2CF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1040100" y="8447757"/>
            <a:ext cx="914400" cy="914400"/>
          </a:xfrm>
          <a:prstGeom prst="rect">
            <a:avLst/>
          </a:prstGeom>
        </p:spPr>
      </p:pic>
      <p:sp>
        <p:nvSpPr>
          <p:cNvPr id="32" name="TextBox 31">
            <a:extLst>
              <a:ext uri="{FF2B5EF4-FFF2-40B4-BE49-F238E27FC236}">
                <a16:creationId xmlns:a16="http://schemas.microsoft.com/office/drawing/2014/main" id="{7E10FFBB-0210-CC13-4BE6-568B907A9645}"/>
              </a:ext>
            </a:extLst>
          </p:cNvPr>
          <p:cNvSpPr txBox="1"/>
          <p:nvPr/>
        </p:nvSpPr>
        <p:spPr>
          <a:xfrm>
            <a:off x="4211560" y="15924256"/>
            <a:ext cx="327390" cy="646331"/>
          </a:xfrm>
          <a:prstGeom prst="rect">
            <a:avLst/>
          </a:prstGeom>
          <a:noFill/>
        </p:spPr>
        <p:txBody>
          <a:bodyPr wrap="square" rtlCol="0">
            <a:spAutoFit/>
          </a:bodyPr>
          <a:lstStyle/>
          <a:p>
            <a:r>
              <a:rPr lang="en-US" sz="3600" dirty="0"/>
              <a:t>+</a:t>
            </a:r>
          </a:p>
        </p:txBody>
      </p:sp>
      <p:pic>
        <p:nvPicPr>
          <p:cNvPr id="33" name="Graphic 32" descr="Rooster with solid fill">
            <a:extLst>
              <a:ext uri="{FF2B5EF4-FFF2-40B4-BE49-F238E27FC236}">
                <a16:creationId xmlns:a16="http://schemas.microsoft.com/office/drawing/2014/main" id="{572CDA4F-7830-23AE-1846-B6EB45D79B2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404923" y="15500143"/>
            <a:ext cx="1256600" cy="1256600"/>
          </a:xfrm>
          <a:prstGeom prst="rect">
            <a:avLst/>
          </a:prstGeom>
        </p:spPr>
      </p:pic>
      <p:sp>
        <p:nvSpPr>
          <p:cNvPr id="41" name="Rectangle 40">
            <a:extLst>
              <a:ext uri="{FF2B5EF4-FFF2-40B4-BE49-F238E27FC236}">
                <a16:creationId xmlns:a16="http://schemas.microsoft.com/office/drawing/2014/main" id="{E7710C0F-788B-B67E-9ADF-26496A9E3A5E}"/>
              </a:ext>
            </a:extLst>
          </p:cNvPr>
          <p:cNvSpPr/>
          <p:nvPr/>
        </p:nvSpPr>
        <p:spPr>
          <a:xfrm>
            <a:off x="30293785" y="5474537"/>
            <a:ext cx="5912100" cy="6963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Conclusions</a:t>
            </a:r>
          </a:p>
        </p:txBody>
      </p:sp>
      <p:sp>
        <p:nvSpPr>
          <p:cNvPr id="59" name="Rectangle 58">
            <a:extLst>
              <a:ext uri="{FF2B5EF4-FFF2-40B4-BE49-F238E27FC236}">
                <a16:creationId xmlns:a16="http://schemas.microsoft.com/office/drawing/2014/main" id="{39D86B42-401D-17AF-F1E6-80D26E9CA15D}"/>
              </a:ext>
            </a:extLst>
          </p:cNvPr>
          <p:cNvSpPr/>
          <p:nvPr/>
        </p:nvSpPr>
        <p:spPr>
          <a:xfrm>
            <a:off x="30307827" y="16692895"/>
            <a:ext cx="5912100" cy="6963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References</a:t>
            </a:r>
          </a:p>
        </p:txBody>
      </p:sp>
      <p:sp>
        <p:nvSpPr>
          <p:cNvPr id="2" name="Rectangle 1">
            <a:extLst>
              <a:ext uri="{FF2B5EF4-FFF2-40B4-BE49-F238E27FC236}">
                <a16:creationId xmlns:a16="http://schemas.microsoft.com/office/drawing/2014/main" id="{7A4A12B6-0B9B-FA1E-216B-4B315ABCF1FE}"/>
              </a:ext>
            </a:extLst>
          </p:cNvPr>
          <p:cNvSpPr/>
          <p:nvPr/>
        </p:nvSpPr>
        <p:spPr>
          <a:xfrm>
            <a:off x="9247529" y="5483845"/>
            <a:ext cx="5912100" cy="696306"/>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Methods</a:t>
            </a:r>
          </a:p>
        </p:txBody>
      </p:sp>
      <p:pic>
        <p:nvPicPr>
          <p:cNvPr id="12" name="Picture 11">
            <a:extLst>
              <a:ext uri="{FF2B5EF4-FFF2-40B4-BE49-F238E27FC236}">
                <a16:creationId xmlns:a16="http://schemas.microsoft.com/office/drawing/2014/main" id="{30A5C0AC-6038-879B-0826-29816F2BE4D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905041" y="6492628"/>
            <a:ext cx="3618494" cy="4824659"/>
          </a:xfrm>
          <a:prstGeom prst="rect">
            <a:avLst/>
          </a:prstGeom>
        </p:spPr>
      </p:pic>
      <p:pic>
        <p:nvPicPr>
          <p:cNvPr id="1028" name="Picture 4" descr="Culex quinquefasciatus before taking a blood meal">
            <a:extLst>
              <a:ext uri="{FF2B5EF4-FFF2-40B4-BE49-F238E27FC236}">
                <a16:creationId xmlns:a16="http://schemas.microsoft.com/office/drawing/2014/main" id="{8940123A-A578-347C-6FED-EE88FFEA180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843746" y="16017806"/>
            <a:ext cx="4249409" cy="239029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8BE84D8B-54C2-C4F4-0A22-C4019B8ABCF2}"/>
              </a:ext>
            </a:extLst>
          </p:cNvPr>
          <p:cNvSpPr txBox="1"/>
          <p:nvPr/>
        </p:nvSpPr>
        <p:spPr>
          <a:xfrm>
            <a:off x="7833479" y="18408098"/>
            <a:ext cx="4243119" cy="830997"/>
          </a:xfrm>
          <a:prstGeom prst="rect">
            <a:avLst/>
          </a:prstGeom>
          <a:noFill/>
        </p:spPr>
        <p:txBody>
          <a:bodyPr wrap="square" rtlCol="0">
            <a:spAutoFit/>
          </a:bodyPr>
          <a:lstStyle/>
          <a:p>
            <a:r>
              <a:rPr lang="en-US" sz="2400" i="1" dirty="0"/>
              <a:t>Culex</a:t>
            </a:r>
            <a:r>
              <a:rPr lang="en-US" sz="2400" dirty="0"/>
              <a:t> mosquito. Source: CDC, 2025 [8]</a:t>
            </a:r>
          </a:p>
        </p:txBody>
      </p:sp>
      <p:pic>
        <p:nvPicPr>
          <p:cNvPr id="1030" name="Picture 6" descr="Anopheles freeborni female mosquito resting">
            <a:extLst>
              <a:ext uri="{FF2B5EF4-FFF2-40B4-BE49-F238E27FC236}">
                <a16:creationId xmlns:a16="http://schemas.microsoft.com/office/drawing/2014/main" id="{4A4C4513-06B6-1C0C-F448-47F0BCB165D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833480" y="19292508"/>
            <a:ext cx="4249409" cy="2390293"/>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4E165A5C-1081-5F08-6603-1070C8AFFA35}"/>
              </a:ext>
            </a:extLst>
          </p:cNvPr>
          <p:cNvSpPr txBox="1"/>
          <p:nvPr/>
        </p:nvSpPr>
        <p:spPr>
          <a:xfrm>
            <a:off x="7860304" y="11290577"/>
            <a:ext cx="3707968" cy="830997"/>
          </a:xfrm>
          <a:prstGeom prst="rect">
            <a:avLst/>
          </a:prstGeom>
          <a:noFill/>
        </p:spPr>
        <p:txBody>
          <a:bodyPr wrap="square" rtlCol="0">
            <a:spAutoFit/>
          </a:bodyPr>
          <a:lstStyle/>
          <a:p>
            <a:r>
              <a:rPr lang="en-US" sz="2400" dirty="0"/>
              <a:t>Environmental sample collection</a:t>
            </a:r>
          </a:p>
        </p:txBody>
      </p:sp>
      <p:sp>
        <p:nvSpPr>
          <p:cNvPr id="28" name="TextBox 27">
            <a:extLst>
              <a:ext uri="{FF2B5EF4-FFF2-40B4-BE49-F238E27FC236}">
                <a16:creationId xmlns:a16="http://schemas.microsoft.com/office/drawing/2014/main" id="{F9D98CCE-5AD3-4CA0-47BA-2C608BA464C1}"/>
              </a:ext>
            </a:extLst>
          </p:cNvPr>
          <p:cNvSpPr txBox="1"/>
          <p:nvPr/>
        </p:nvSpPr>
        <p:spPr>
          <a:xfrm>
            <a:off x="13267602" y="11290576"/>
            <a:ext cx="3608569" cy="830997"/>
          </a:xfrm>
          <a:prstGeom prst="rect">
            <a:avLst/>
          </a:prstGeom>
          <a:noFill/>
        </p:spPr>
        <p:txBody>
          <a:bodyPr wrap="square" rtlCol="0">
            <a:spAutoFit/>
          </a:bodyPr>
          <a:lstStyle/>
          <a:p>
            <a:r>
              <a:rPr lang="en-US" sz="2400" dirty="0"/>
              <a:t>CO₂-baited fan traps used to catch mosquitoes</a:t>
            </a:r>
          </a:p>
        </p:txBody>
      </p:sp>
      <p:pic>
        <p:nvPicPr>
          <p:cNvPr id="29" name="Graphic 28" descr="Sparrow with solid fill">
            <a:extLst>
              <a:ext uri="{FF2B5EF4-FFF2-40B4-BE49-F238E27FC236}">
                <a16:creationId xmlns:a16="http://schemas.microsoft.com/office/drawing/2014/main" id="{8EE97E81-5677-6502-8A34-3D3B7C03B9E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318118" y="15545541"/>
            <a:ext cx="1256600" cy="1256600"/>
          </a:xfrm>
          <a:prstGeom prst="rect">
            <a:avLst/>
          </a:prstGeom>
        </p:spPr>
      </p:pic>
      <p:pic>
        <p:nvPicPr>
          <p:cNvPr id="35" name="Graphic 34" descr="Rooster with solid fill">
            <a:extLst>
              <a:ext uri="{FF2B5EF4-FFF2-40B4-BE49-F238E27FC236}">
                <a16:creationId xmlns:a16="http://schemas.microsoft.com/office/drawing/2014/main" id="{DDDD6BA0-AAA1-1F02-7993-1FEB0136E5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2012292" y="8447757"/>
            <a:ext cx="914400" cy="914400"/>
          </a:xfrm>
          <a:prstGeom prst="rect">
            <a:avLst/>
          </a:prstGeom>
        </p:spPr>
      </p:pic>
      <p:sp>
        <p:nvSpPr>
          <p:cNvPr id="37" name="TextBox 36">
            <a:extLst>
              <a:ext uri="{FF2B5EF4-FFF2-40B4-BE49-F238E27FC236}">
                <a16:creationId xmlns:a16="http://schemas.microsoft.com/office/drawing/2014/main" id="{E3F5EC7B-C1A1-8AF2-E770-24995F5A2E87}"/>
              </a:ext>
            </a:extLst>
          </p:cNvPr>
          <p:cNvSpPr txBox="1"/>
          <p:nvPr/>
        </p:nvSpPr>
        <p:spPr>
          <a:xfrm>
            <a:off x="31756354" y="8622509"/>
            <a:ext cx="430555" cy="646331"/>
          </a:xfrm>
          <a:prstGeom prst="rect">
            <a:avLst/>
          </a:prstGeom>
          <a:noFill/>
        </p:spPr>
        <p:txBody>
          <a:bodyPr wrap="square" rtlCol="0">
            <a:spAutoFit/>
          </a:bodyPr>
          <a:lstStyle/>
          <a:p>
            <a:r>
              <a:rPr lang="en-US" sz="3600" dirty="0"/>
              <a:t>+</a:t>
            </a:r>
          </a:p>
        </p:txBody>
      </p:sp>
      <p:sp>
        <p:nvSpPr>
          <p:cNvPr id="53" name="TextBox 52">
            <a:extLst>
              <a:ext uri="{FF2B5EF4-FFF2-40B4-BE49-F238E27FC236}">
                <a16:creationId xmlns:a16="http://schemas.microsoft.com/office/drawing/2014/main" id="{D9212C89-08A2-32D1-BF27-85F502ED1998}"/>
              </a:ext>
            </a:extLst>
          </p:cNvPr>
          <p:cNvSpPr txBox="1"/>
          <p:nvPr/>
        </p:nvSpPr>
        <p:spPr>
          <a:xfrm>
            <a:off x="924859" y="21783189"/>
            <a:ext cx="5878081" cy="830997"/>
          </a:xfrm>
          <a:prstGeom prst="rect">
            <a:avLst/>
          </a:prstGeom>
          <a:noFill/>
        </p:spPr>
        <p:txBody>
          <a:bodyPr wrap="square" lIns="91440" tIns="45720" rIns="91440" bIns="45720" rtlCol="0" anchor="t">
            <a:spAutoFit/>
          </a:bodyPr>
          <a:lstStyle/>
          <a:p>
            <a:r>
              <a:rPr lang="en-US" sz="2400"/>
              <a:t>We thank LeeAnn Bailey, Dianna Bourassa, Matthew Bailey and the homeowners</a:t>
            </a:r>
          </a:p>
        </p:txBody>
      </p:sp>
      <p:pic>
        <p:nvPicPr>
          <p:cNvPr id="60" name="Picture 59">
            <a:extLst>
              <a:ext uri="{FF2B5EF4-FFF2-40B4-BE49-F238E27FC236}">
                <a16:creationId xmlns:a16="http://schemas.microsoft.com/office/drawing/2014/main" id="{EF0DE5BB-F25D-6D99-3F79-5620A54B33B1}"/>
              </a:ext>
            </a:extLst>
          </p:cNvPr>
          <p:cNvPicPr>
            <a:picLocks noChangeAspect="1"/>
          </p:cNvPicPr>
          <p:nvPr/>
        </p:nvPicPr>
        <p:blipFill>
          <a:blip r:embed="rId18"/>
          <a:srcRect t="177" r="1060" b="1175"/>
          <a:stretch>
            <a:fillRect/>
          </a:stretch>
        </p:blipFill>
        <p:spPr>
          <a:xfrm>
            <a:off x="17430208" y="6371256"/>
            <a:ext cx="12024026" cy="7002631"/>
          </a:xfrm>
          <a:prstGeom prst="rect">
            <a:avLst/>
          </a:prstGeom>
        </p:spPr>
      </p:pic>
      <p:pic>
        <p:nvPicPr>
          <p:cNvPr id="61" name="Picture 60">
            <a:extLst>
              <a:ext uri="{FF2B5EF4-FFF2-40B4-BE49-F238E27FC236}">
                <a16:creationId xmlns:a16="http://schemas.microsoft.com/office/drawing/2014/main" id="{1EEBA537-F18E-7381-77D9-2D812F8791CF}"/>
              </a:ext>
            </a:extLst>
          </p:cNvPr>
          <p:cNvPicPr>
            <a:picLocks noChangeAspect="1"/>
          </p:cNvPicPr>
          <p:nvPr/>
        </p:nvPicPr>
        <p:blipFill>
          <a:blip r:embed="rId19"/>
          <a:srcRect t="-308" r="1245" b="-725"/>
          <a:stretch>
            <a:fillRect/>
          </a:stretch>
        </p:blipFill>
        <p:spPr>
          <a:xfrm>
            <a:off x="17430208" y="14487875"/>
            <a:ext cx="12001580" cy="7171946"/>
          </a:xfrm>
          <a:prstGeom prst="rect">
            <a:avLst/>
          </a:prstGeom>
        </p:spPr>
      </p:pic>
      <p:sp>
        <p:nvSpPr>
          <p:cNvPr id="56" name="TextBox 55">
            <a:extLst>
              <a:ext uri="{FF2B5EF4-FFF2-40B4-BE49-F238E27FC236}">
                <a16:creationId xmlns:a16="http://schemas.microsoft.com/office/drawing/2014/main" id="{5F54E729-205B-2B93-E7B2-F9F9896AAF3E}"/>
              </a:ext>
            </a:extLst>
          </p:cNvPr>
          <p:cNvSpPr txBox="1"/>
          <p:nvPr/>
        </p:nvSpPr>
        <p:spPr>
          <a:xfrm>
            <a:off x="18296882" y="21501219"/>
            <a:ext cx="10434598" cy="1200329"/>
          </a:xfrm>
          <a:prstGeom prst="rect">
            <a:avLst/>
          </a:prstGeom>
          <a:solidFill>
            <a:schemeClr val="bg1"/>
          </a:solidFill>
        </p:spPr>
        <p:txBody>
          <a:bodyPr wrap="square" lIns="91440" tIns="45720" rIns="91440" bIns="45720" anchor="t">
            <a:spAutoFit/>
          </a:bodyPr>
          <a:lstStyle/>
          <a:p>
            <a:r>
              <a:rPr lang="en-US" sz="3600" b="1" dirty="0"/>
              <a:t>Figure 2.</a:t>
            </a:r>
            <a:r>
              <a:rPr lang="en-US" sz="3600" dirty="0"/>
              <a:t> Fewer mosquitoes in bird feeder + chicken houses.</a:t>
            </a:r>
          </a:p>
        </p:txBody>
      </p:sp>
      <p:pic>
        <p:nvPicPr>
          <p:cNvPr id="63" name="Picture 62">
            <a:extLst>
              <a:ext uri="{FF2B5EF4-FFF2-40B4-BE49-F238E27FC236}">
                <a16:creationId xmlns:a16="http://schemas.microsoft.com/office/drawing/2014/main" id="{3E895C26-3EBE-91E2-B717-A9CDDB050552}"/>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7860304" y="12301738"/>
            <a:ext cx="4216295" cy="3017412"/>
          </a:xfrm>
          <a:prstGeom prst="rect">
            <a:avLst/>
          </a:prstGeom>
        </p:spPr>
      </p:pic>
      <p:pic>
        <p:nvPicPr>
          <p:cNvPr id="1029" name="Picture 1028">
            <a:extLst>
              <a:ext uri="{FF2B5EF4-FFF2-40B4-BE49-F238E27FC236}">
                <a16:creationId xmlns:a16="http://schemas.microsoft.com/office/drawing/2014/main" id="{F5219279-D2AC-2B63-3890-02954588C978}"/>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2659875" y="12296796"/>
            <a:ext cx="4221861" cy="3017412"/>
          </a:xfrm>
          <a:prstGeom prst="rect">
            <a:avLst/>
          </a:prstGeom>
        </p:spPr>
      </p:pic>
      <p:pic>
        <p:nvPicPr>
          <p:cNvPr id="1032" name="Picture 1031">
            <a:extLst>
              <a:ext uri="{FF2B5EF4-FFF2-40B4-BE49-F238E27FC236}">
                <a16:creationId xmlns:a16="http://schemas.microsoft.com/office/drawing/2014/main" id="{6A48E363-55B0-E730-F638-9561403B4AF9}"/>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rot="5400000">
            <a:off x="12664520" y="7095710"/>
            <a:ext cx="4824659" cy="3618494"/>
          </a:xfrm>
          <a:prstGeom prst="rect">
            <a:avLst/>
          </a:prstGeom>
        </p:spPr>
      </p:pic>
      <p:sp>
        <p:nvSpPr>
          <p:cNvPr id="1034" name="TextBox 1033">
            <a:extLst>
              <a:ext uri="{FF2B5EF4-FFF2-40B4-BE49-F238E27FC236}">
                <a16:creationId xmlns:a16="http://schemas.microsoft.com/office/drawing/2014/main" id="{6DEAF4B8-B1E0-1293-BF3E-0F1DCE28324A}"/>
              </a:ext>
            </a:extLst>
          </p:cNvPr>
          <p:cNvSpPr txBox="1"/>
          <p:nvPr/>
        </p:nvSpPr>
        <p:spPr>
          <a:xfrm>
            <a:off x="7833479" y="21698912"/>
            <a:ext cx="4243119" cy="830997"/>
          </a:xfrm>
          <a:prstGeom prst="rect">
            <a:avLst/>
          </a:prstGeom>
          <a:noFill/>
        </p:spPr>
        <p:txBody>
          <a:bodyPr wrap="square">
            <a:spAutoFit/>
          </a:bodyPr>
          <a:lstStyle/>
          <a:p>
            <a:r>
              <a:rPr lang="en-US" sz="2400" i="1" dirty="0"/>
              <a:t>Anopheles</a:t>
            </a:r>
            <a:r>
              <a:rPr lang="en-US" sz="2400" dirty="0"/>
              <a:t> mosquito. Source: CDC, 2024 [9]</a:t>
            </a:r>
          </a:p>
        </p:txBody>
      </p:sp>
      <p:pic>
        <p:nvPicPr>
          <p:cNvPr id="1037" name="Picture 1036">
            <a:extLst>
              <a:ext uri="{FF2B5EF4-FFF2-40B4-BE49-F238E27FC236}">
                <a16:creationId xmlns:a16="http://schemas.microsoft.com/office/drawing/2014/main" id="{7197853C-B5D3-8C6F-EBF7-B278F365C0A4}"/>
              </a:ext>
            </a:extLst>
          </p:cNvPr>
          <p:cNvPicPr>
            <a:picLocks noChangeAspect="1"/>
          </p:cNvPicPr>
          <p:nvPr/>
        </p:nvPicPr>
        <p:blipFill>
          <a:blip r:embed="rId23"/>
          <a:srcRect t="9387" b="10787"/>
          <a:stretch>
            <a:fillRect/>
          </a:stretch>
        </p:blipFill>
        <p:spPr>
          <a:xfrm>
            <a:off x="12659875" y="16019515"/>
            <a:ext cx="4243119" cy="2388583"/>
          </a:xfrm>
          <a:prstGeom prst="rect">
            <a:avLst/>
          </a:prstGeom>
        </p:spPr>
      </p:pic>
      <p:sp>
        <p:nvSpPr>
          <p:cNvPr id="1038" name="TextBox 1037">
            <a:extLst>
              <a:ext uri="{FF2B5EF4-FFF2-40B4-BE49-F238E27FC236}">
                <a16:creationId xmlns:a16="http://schemas.microsoft.com/office/drawing/2014/main" id="{BDCAAB75-EA74-E523-0634-7F4509E1AB0E}"/>
              </a:ext>
            </a:extLst>
          </p:cNvPr>
          <p:cNvSpPr txBox="1"/>
          <p:nvPr/>
        </p:nvSpPr>
        <p:spPr>
          <a:xfrm>
            <a:off x="12673286" y="18408097"/>
            <a:ext cx="4216296" cy="830997"/>
          </a:xfrm>
          <a:prstGeom prst="rect">
            <a:avLst/>
          </a:prstGeom>
          <a:noFill/>
        </p:spPr>
        <p:txBody>
          <a:bodyPr wrap="square" rtlCol="0">
            <a:spAutoFit/>
          </a:bodyPr>
          <a:lstStyle/>
          <a:p>
            <a:r>
              <a:rPr lang="en-US" sz="2400" i="1" dirty="0"/>
              <a:t>Aedes aegypti</a:t>
            </a:r>
            <a:r>
              <a:rPr lang="en-US" sz="2400" dirty="0"/>
              <a:t> mosquito. Source: VDCI, 2026 [10]</a:t>
            </a:r>
            <a:endParaRPr lang="en-US" sz="2400" i="1" dirty="0"/>
          </a:p>
        </p:txBody>
      </p:sp>
      <p:pic>
        <p:nvPicPr>
          <p:cNvPr id="1039" name="Picture 1038">
            <a:extLst>
              <a:ext uri="{FF2B5EF4-FFF2-40B4-BE49-F238E27FC236}">
                <a16:creationId xmlns:a16="http://schemas.microsoft.com/office/drawing/2014/main" id="{3232EBC1-12B3-8C62-A7E4-4B5225158BAA}"/>
              </a:ext>
            </a:extLst>
          </p:cNvPr>
          <p:cNvPicPr>
            <a:picLocks noChangeAspect="1"/>
          </p:cNvPicPr>
          <p:nvPr/>
        </p:nvPicPr>
        <p:blipFill>
          <a:blip r:embed="rId24"/>
          <a:srcRect l="1154" t="17207" r="1788" b="28238"/>
          <a:stretch>
            <a:fillRect/>
          </a:stretch>
        </p:blipFill>
        <p:spPr>
          <a:xfrm>
            <a:off x="12666165" y="19290306"/>
            <a:ext cx="4249409" cy="2388584"/>
          </a:xfrm>
          <a:prstGeom prst="rect">
            <a:avLst/>
          </a:prstGeom>
        </p:spPr>
      </p:pic>
      <p:sp>
        <p:nvSpPr>
          <p:cNvPr id="1040" name="TextBox 1039">
            <a:extLst>
              <a:ext uri="{FF2B5EF4-FFF2-40B4-BE49-F238E27FC236}">
                <a16:creationId xmlns:a16="http://schemas.microsoft.com/office/drawing/2014/main" id="{97026402-16DF-0197-5652-15ECFEF82494}"/>
              </a:ext>
            </a:extLst>
          </p:cNvPr>
          <p:cNvSpPr txBox="1"/>
          <p:nvPr/>
        </p:nvSpPr>
        <p:spPr>
          <a:xfrm>
            <a:off x="12672455" y="21704498"/>
            <a:ext cx="4243119" cy="830997"/>
          </a:xfrm>
          <a:prstGeom prst="rect">
            <a:avLst/>
          </a:prstGeom>
          <a:noFill/>
        </p:spPr>
        <p:txBody>
          <a:bodyPr wrap="square" rtlCol="0">
            <a:spAutoFit/>
          </a:bodyPr>
          <a:lstStyle/>
          <a:p>
            <a:r>
              <a:rPr lang="en-US" sz="2400" i="1" dirty="0"/>
              <a:t>Aedes</a:t>
            </a:r>
            <a:r>
              <a:rPr lang="en-US" sz="2400" dirty="0"/>
              <a:t> </a:t>
            </a:r>
            <a:r>
              <a:rPr lang="en-US" sz="2400" i="1" dirty="0"/>
              <a:t>albopictus</a:t>
            </a:r>
            <a:r>
              <a:rPr lang="en-US" sz="2400" dirty="0"/>
              <a:t> mosquito. Source: </a:t>
            </a:r>
            <a:r>
              <a:rPr lang="en-US" sz="2400" dirty="0" err="1"/>
              <a:t>JuzaPhoto</a:t>
            </a:r>
            <a:r>
              <a:rPr lang="en-US" sz="2400" dirty="0"/>
              <a:t>, 2015 [11]</a:t>
            </a:r>
          </a:p>
        </p:txBody>
      </p:sp>
      <p:sp>
        <p:nvSpPr>
          <p:cNvPr id="1041" name="Rectangle 1040">
            <a:extLst>
              <a:ext uri="{FF2B5EF4-FFF2-40B4-BE49-F238E27FC236}">
                <a16:creationId xmlns:a16="http://schemas.microsoft.com/office/drawing/2014/main" id="{967ABBBF-4E69-9915-8D14-89AB418C80DB}"/>
              </a:ext>
            </a:extLst>
          </p:cNvPr>
          <p:cNvSpPr/>
          <p:nvPr/>
        </p:nvSpPr>
        <p:spPr>
          <a:xfrm>
            <a:off x="890840" y="21022733"/>
            <a:ext cx="5912100" cy="696306"/>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Acknowledgements</a:t>
            </a:r>
          </a:p>
        </p:txBody>
      </p:sp>
      <p:sp>
        <p:nvSpPr>
          <p:cNvPr id="1042" name="TextBox 1041">
            <a:extLst>
              <a:ext uri="{FF2B5EF4-FFF2-40B4-BE49-F238E27FC236}">
                <a16:creationId xmlns:a16="http://schemas.microsoft.com/office/drawing/2014/main" id="{D34FDE14-08DF-DCD9-90AC-83432352B24C}"/>
              </a:ext>
            </a:extLst>
          </p:cNvPr>
          <p:cNvSpPr txBox="1"/>
          <p:nvPr/>
        </p:nvSpPr>
        <p:spPr>
          <a:xfrm>
            <a:off x="7872184" y="15376455"/>
            <a:ext cx="3798012" cy="461665"/>
          </a:xfrm>
          <a:prstGeom prst="rect">
            <a:avLst/>
          </a:prstGeom>
          <a:noFill/>
        </p:spPr>
        <p:txBody>
          <a:bodyPr wrap="square" rtlCol="0">
            <a:spAutoFit/>
          </a:bodyPr>
          <a:lstStyle/>
          <a:p>
            <a:r>
              <a:rPr lang="en-US" sz="2400" i="1" dirty="0"/>
              <a:t>E. Coli </a:t>
            </a:r>
            <a:r>
              <a:rPr lang="en-US" sz="2400" dirty="0"/>
              <a:t>positive agar plate</a:t>
            </a:r>
          </a:p>
        </p:txBody>
      </p:sp>
      <p:sp>
        <p:nvSpPr>
          <p:cNvPr id="1043" name="TextBox 1042">
            <a:extLst>
              <a:ext uri="{FF2B5EF4-FFF2-40B4-BE49-F238E27FC236}">
                <a16:creationId xmlns:a16="http://schemas.microsoft.com/office/drawing/2014/main" id="{0A7A38F2-2379-8279-4682-98BD7043D801}"/>
              </a:ext>
            </a:extLst>
          </p:cNvPr>
          <p:cNvSpPr txBox="1"/>
          <p:nvPr/>
        </p:nvSpPr>
        <p:spPr>
          <a:xfrm>
            <a:off x="12659875" y="15376455"/>
            <a:ext cx="4216296" cy="461665"/>
          </a:xfrm>
          <a:prstGeom prst="rect">
            <a:avLst/>
          </a:prstGeom>
          <a:noFill/>
        </p:spPr>
        <p:txBody>
          <a:bodyPr wrap="square" rtlCol="0">
            <a:spAutoFit/>
          </a:bodyPr>
          <a:lstStyle/>
          <a:p>
            <a:r>
              <a:rPr lang="en-US" sz="2400" i="1" dirty="0"/>
              <a:t>S. Enterica </a:t>
            </a:r>
            <a:r>
              <a:rPr lang="en-US" sz="2400" dirty="0"/>
              <a:t>positive agar plate</a:t>
            </a:r>
          </a:p>
        </p:txBody>
      </p:sp>
      <p:pic>
        <p:nvPicPr>
          <p:cNvPr id="1044" name="Graphic 1043" descr="Sparrow with solid fill">
            <a:extLst>
              <a:ext uri="{FF2B5EF4-FFF2-40B4-BE49-F238E27FC236}">
                <a16:creationId xmlns:a16="http://schemas.microsoft.com/office/drawing/2014/main" id="{2214730B-E3FE-D742-7B4A-31E48369740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2233571" y="12296796"/>
            <a:ext cx="703496" cy="703496"/>
          </a:xfrm>
          <a:prstGeom prst="rect">
            <a:avLst/>
          </a:prstGeom>
        </p:spPr>
      </p:pic>
      <p:pic>
        <p:nvPicPr>
          <p:cNvPr id="1045" name="Graphic 1044" descr="Sparrow with solid fill">
            <a:extLst>
              <a:ext uri="{FF2B5EF4-FFF2-40B4-BE49-F238E27FC236}">
                <a16:creationId xmlns:a16="http://schemas.microsoft.com/office/drawing/2014/main" id="{37EF9DA9-22A1-C745-A1C0-F8493E686F1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6623186" y="12296796"/>
            <a:ext cx="703496" cy="703496"/>
          </a:xfrm>
          <a:prstGeom prst="rect">
            <a:avLst/>
          </a:prstGeom>
        </p:spPr>
      </p:pic>
      <p:pic>
        <p:nvPicPr>
          <p:cNvPr id="1046" name="Graphic 1045" descr="Rooster with solid fill">
            <a:extLst>
              <a:ext uri="{FF2B5EF4-FFF2-40B4-BE49-F238E27FC236}">
                <a16:creationId xmlns:a16="http://schemas.microsoft.com/office/drawing/2014/main" id="{74BC8062-B45F-34AD-EB32-15A8A4A740D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4368551" y="12330490"/>
            <a:ext cx="703496" cy="703496"/>
          </a:xfrm>
          <a:prstGeom prst="rect">
            <a:avLst/>
          </a:prstGeom>
        </p:spPr>
      </p:pic>
      <p:pic>
        <p:nvPicPr>
          <p:cNvPr id="1047" name="Graphic 1046" descr="Rooster with solid fill">
            <a:extLst>
              <a:ext uri="{FF2B5EF4-FFF2-40B4-BE49-F238E27FC236}">
                <a16:creationId xmlns:a16="http://schemas.microsoft.com/office/drawing/2014/main" id="{F199F611-CC50-FC9C-F5B2-FE41470AB8E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7338189" y="12323790"/>
            <a:ext cx="703496" cy="703496"/>
          </a:xfrm>
          <a:prstGeom prst="rect">
            <a:avLst/>
          </a:prstGeom>
        </p:spPr>
      </p:pic>
      <p:pic>
        <p:nvPicPr>
          <p:cNvPr id="1048" name="Graphic 1047" descr="Forbidden with solid fill">
            <a:extLst>
              <a:ext uri="{FF2B5EF4-FFF2-40B4-BE49-F238E27FC236}">
                <a16:creationId xmlns:a16="http://schemas.microsoft.com/office/drawing/2014/main" id="{73AE7970-6AF8-3088-EF21-9C3C3BB10C4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402758" y="12323790"/>
            <a:ext cx="703496" cy="703496"/>
          </a:xfrm>
          <a:prstGeom prst="rect">
            <a:avLst/>
          </a:prstGeom>
        </p:spPr>
      </p:pic>
      <p:sp>
        <p:nvSpPr>
          <p:cNvPr id="1049" name="TextBox 1048">
            <a:extLst>
              <a:ext uri="{FF2B5EF4-FFF2-40B4-BE49-F238E27FC236}">
                <a16:creationId xmlns:a16="http://schemas.microsoft.com/office/drawing/2014/main" id="{04830CC7-FB6A-1DB4-0F79-A9001F5637E7}"/>
              </a:ext>
            </a:extLst>
          </p:cNvPr>
          <p:cNvSpPr txBox="1"/>
          <p:nvPr/>
        </p:nvSpPr>
        <p:spPr>
          <a:xfrm>
            <a:off x="27136011" y="12432241"/>
            <a:ext cx="489612" cy="461665"/>
          </a:xfrm>
          <a:prstGeom prst="rect">
            <a:avLst/>
          </a:prstGeom>
          <a:noFill/>
        </p:spPr>
        <p:txBody>
          <a:bodyPr wrap="square" rtlCol="0">
            <a:spAutoFit/>
          </a:bodyPr>
          <a:lstStyle/>
          <a:p>
            <a:r>
              <a:rPr lang="en-US" sz="2400" dirty="0"/>
              <a:t>+</a:t>
            </a:r>
          </a:p>
        </p:txBody>
      </p:sp>
      <p:pic>
        <p:nvPicPr>
          <p:cNvPr id="1050" name="Graphic 1049" descr="Forbidden with solid fill">
            <a:extLst>
              <a:ext uri="{FF2B5EF4-FFF2-40B4-BE49-F238E27FC236}">
                <a16:creationId xmlns:a16="http://schemas.microsoft.com/office/drawing/2014/main" id="{B04B78D1-25B9-FF64-D17D-2B1C2D156AD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8028758" y="18217563"/>
            <a:ext cx="703496" cy="703496"/>
          </a:xfrm>
          <a:prstGeom prst="rect">
            <a:avLst/>
          </a:prstGeom>
        </p:spPr>
      </p:pic>
      <p:pic>
        <p:nvPicPr>
          <p:cNvPr id="1051" name="Graphic 1050" descr="Rooster with solid fill">
            <a:extLst>
              <a:ext uri="{FF2B5EF4-FFF2-40B4-BE49-F238E27FC236}">
                <a16:creationId xmlns:a16="http://schemas.microsoft.com/office/drawing/2014/main" id="{A2BD9C17-3300-768B-FCB3-2A67FB6C76D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7431622" y="17830335"/>
            <a:ext cx="703496" cy="703496"/>
          </a:xfrm>
          <a:prstGeom prst="rect">
            <a:avLst/>
          </a:prstGeom>
        </p:spPr>
      </p:pic>
      <p:pic>
        <p:nvPicPr>
          <p:cNvPr id="1052" name="Graphic 1051" descr="Sparrow with solid fill">
            <a:extLst>
              <a:ext uri="{FF2B5EF4-FFF2-40B4-BE49-F238E27FC236}">
                <a16:creationId xmlns:a16="http://schemas.microsoft.com/office/drawing/2014/main" id="{30806B62-CA81-2A26-0969-EB87E2679EF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7522384" y="16976081"/>
            <a:ext cx="703496" cy="703496"/>
          </a:xfrm>
          <a:prstGeom prst="rect">
            <a:avLst/>
          </a:prstGeom>
        </p:spPr>
      </p:pic>
      <p:pic>
        <p:nvPicPr>
          <p:cNvPr id="1053" name="Graphic 1052" descr="Sparrow with solid fill">
            <a:extLst>
              <a:ext uri="{FF2B5EF4-FFF2-40B4-BE49-F238E27FC236}">
                <a16:creationId xmlns:a16="http://schemas.microsoft.com/office/drawing/2014/main" id="{03483D91-DD8F-EC0F-8CE9-08395924555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7848354" y="17375166"/>
            <a:ext cx="703496" cy="703496"/>
          </a:xfrm>
          <a:prstGeom prst="rect">
            <a:avLst/>
          </a:prstGeom>
        </p:spPr>
      </p:pic>
      <p:pic>
        <p:nvPicPr>
          <p:cNvPr id="1055" name="Graphic 1054" descr="Rooster with solid fill">
            <a:extLst>
              <a:ext uri="{FF2B5EF4-FFF2-40B4-BE49-F238E27FC236}">
                <a16:creationId xmlns:a16="http://schemas.microsoft.com/office/drawing/2014/main" id="{206FFB3D-8D83-5477-EAAB-DF7F97671D3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8551850" y="17375166"/>
            <a:ext cx="703496" cy="703496"/>
          </a:xfrm>
          <a:prstGeom prst="rect">
            <a:avLst/>
          </a:prstGeom>
        </p:spPr>
      </p:pic>
      <p:sp>
        <p:nvSpPr>
          <p:cNvPr id="1056" name="TextBox 1055">
            <a:extLst>
              <a:ext uri="{FF2B5EF4-FFF2-40B4-BE49-F238E27FC236}">
                <a16:creationId xmlns:a16="http://schemas.microsoft.com/office/drawing/2014/main" id="{4737D83B-FB26-8A4F-5DC8-3C16F7050DD7}"/>
              </a:ext>
            </a:extLst>
          </p:cNvPr>
          <p:cNvSpPr txBox="1"/>
          <p:nvPr/>
        </p:nvSpPr>
        <p:spPr>
          <a:xfrm>
            <a:off x="28348816" y="17494060"/>
            <a:ext cx="377526" cy="465707"/>
          </a:xfrm>
          <a:prstGeom prst="rect">
            <a:avLst/>
          </a:prstGeom>
          <a:noFill/>
        </p:spPr>
        <p:txBody>
          <a:bodyPr wrap="square" rtlCol="0">
            <a:spAutoFit/>
          </a:bodyPr>
          <a:lstStyle/>
          <a:p>
            <a:r>
              <a:rPr lang="en-US" sz="2400" dirty="0"/>
              <a:t>+</a:t>
            </a:r>
          </a:p>
        </p:txBody>
      </p:sp>
    </p:spTree>
    <p:extLst>
      <p:ext uri="{BB962C8B-B14F-4D97-AF65-F5344CB8AC3E}">
        <p14:creationId xmlns:p14="http://schemas.microsoft.com/office/powerpoint/2010/main" val="25492755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20163</TotalTime>
  <Words>825</Words>
  <Application>Microsoft Office PowerPoint</Application>
  <PresentationFormat>Custom</PresentationFormat>
  <Paragraphs>57</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Watters</dc:creator>
  <cp:lastModifiedBy>Luke Watters</cp:lastModifiedBy>
  <cp:revision>2</cp:revision>
  <dcterms:created xsi:type="dcterms:W3CDTF">2026-02-22T21:09:28Z</dcterms:created>
  <dcterms:modified xsi:type="dcterms:W3CDTF">2026-07-09T19:58:21Z</dcterms:modified>
</cp:coreProperties>
</file>